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7" r:id="rId2"/>
    <p:sldId id="258" r:id="rId3"/>
    <p:sldId id="261" r:id="rId4"/>
    <p:sldId id="259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11" autoAdjust="0"/>
    <p:restoredTop sz="94660"/>
  </p:normalViewPr>
  <p:slideViewPr>
    <p:cSldViewPr snapToGrid="0">
      <p:cViewPr varScale="1">
        <p:scale>
          <a:sx n="45" d="100"/>
          <a:sy n="45" d="100"/>
        </p:scale>
        <p:origin x="53" y="1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ED353E-7507-4138-AA33-F5B7D349808B}" type="datetimeFigureOut">
              <a:rPr lang="zh-TW" altLang="en-US" smtClean="0"/>
              <a:t>2024/10/11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0AF393-DE0F-4C77-946F-44AEC44F88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6698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0AF393-DE0F-4C77-946F-44AEC44F8800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4271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0AF393-DE0F-4C77-946F-44AEC44F8800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4810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 useBgFill="1">
        <p:nvSpPr>
          <p:cNvPr id="5" name="圓角矩形 4"/>
          <p:cNvSpPr/>
          <p:nvPr/>
        </p:nvSpPr>
        <p:spPr>
          <a:xfrm>
            <a:off x="86785" y="69851"/>
            <a:ext cx="12018433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84667" y="1449389"/>
            <a:ext cx="12026900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84667" y="1397000"/>
            <a:ext cx="12026900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4667" y="2976564"/>
            <a:ext cx="12026900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TW" altLang="en-US"/>
              <a:t>按一下以編輯母片副標題樣式</a:t>
            </a:r>
            <a:endParaRPr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1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A10245-5177-4DF8-A448-9DB389FFADE6}" type="datetimeFigureOut">
              <a:rPr lang="zh-TW" altLang="en-US" smtClean="0"/>
              <a:t>2024/10/11</a:t>
            </a:fld>
            <a:endParaRPr lang="zh-TW" altLang="en-US"/>
          </a:p>
        </p:txBody>
      </p:sp>
      <p:sp>
        <p:nvSpPr>
          <p:cNvPr id="12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13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79006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A10245-5177-4DF8-A448-9DB389FFADE6}" type="datetimeFigureOut">
              <a:rPr lang="zh-TW" altLang="en-US" smtClean="0"/>
              <a:t>2024/10/11</a:t>
            </a:fld>
            <a:endParaRPr lang="zh-TW" altLang="en-US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66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 useBgFill="1">
        <p:nvSpPr>
          <p:cNvPr id="5" name="圓角矩形 4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 flipV="1">
            <a:off x="93134" y="2376489"/>
            <a:ext cx="12018433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93134" y="2341564"/>
            <a:ext cx="12018433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91018" y="2468564"/>
            <a:ext cx="12020549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A10245-5177-4DF8-A448-9DB389FFADE6}" type="datetimeFigureOut">
              <a:rPr lang="zh-TW" altLang="en-US" smtClean="0"/>
              <a:t>2024/10/11</a:t>
            </a:fld>
            <a:endParaRPr lang="zh-TW" altLang="en-US"/>
          </a:p>
        </p:txBody>
      </p:sp>
      <p:sp>
        <p:nvSpPr>
          <p:cNvPr id="10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1066800" y="6172200"/>
            <a:ext cx="5334000" cy="457200"/>
          </a:xfrm>
        </p:spPr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11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94733" y="6208713"/>
            <a:ext cx="609600" cy="457200"/>
          </a:xfrm>
        </p:spPr>
        <p:txBody>
          <a:bodyPr/>
          <a:lstStyle>
            <a:lvl1pPr>
              <a:defRPr/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64051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A10245-5177-4DF8-A448-9DB389FFADE6}" type="datetimeFigureOut">
              <a:rPr lang="zh-TW" altLang="en-US" smtClean="0"/>
              <a:t>2024/10/11</a:t>
            </a:fld>
            <a:endParaRPr lang="zh-TW" altLang="en-US"/>
          </a:p>
        </p:txBody>
      </p:sp>
      <p:sp>
        <p:nvSpPr>
          <p:cNvPr id="6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7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7542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3" name="內容版面配置區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A10245-5177-4DF8-A448-9DB389FFADE6}" type="datetimeFigureOut">
              <a:rPr lang="zh-TW" altLang="en-US" smtClean="0"/>
              <a:t>2024/10/11</a:t>
            </a:fld>
            <a:endParaRPr lang="zh-TW" altLang="en-US"/>
          </a:p>
        </p:txBody>
      </p:sp>
      <p:sp>
        <p:nvSpPr>
          <p:cNvPr id="8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9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0803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A10245-5177-4DF8-A448-9DB389FFADE6}" type="datetimeFigureOut">
              <a:rPr lang="zh-TW" altLang="en-US" smtClean="0"/>
              <a:t>2024/10/11</a:t>
            </a:fld>
            <a:endParaRPr lang="zh-TW" altLang="en-US"/>
          </a:p>
        </p:txBody>
      </p:sp>
      <p:sp>
        <p:nvSpPr>
          <p:cNvPr id="4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5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712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A10245-5177-4DF8-A448-9DB389FFADE6}" type="datetimeFigureOut">
              <a:rPr lang="zh-TW" altLang="en-US" smtClean="0"/>
              <a:t>2024/10/11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4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5840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 useBgFill="1">
        <p:nvSpPr>
          <p:cNvPr id="6" name="圓角矩形 5"/>
          <p:cNvSpPr/>
          <p:nvPr/>
        </p:nvSpPr>
        <p:spPr>
          <a:xfrm>
            <a:off x="84668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A10245-5177-4DF8-A448-9DB389FFADE6}" type="datetimeFigureOut">
              <a:rPr lang="zh-TW" altLang="en-US" smtClean="0"/>
              <a:t>2024/10/11</a:t>
            </a:fld>
            <a:endParaRPr lang="zh-TW" altLang="en-US"/>
          </a:p>
        </p:txBody>
      </p:sp>
      <p:sp>
        <p:nvSpPr>
          <p:cNvPr id="8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9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5532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flipV="1">
            <a:off x="91018" y="4683126"/>
            <a:ext cx="12009967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91018" y="4649789"/>
            <a:ext cx="12009967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91018" y="4773614"/>
            <a:ext cx="12009967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TW" altLang="en-US" noProof="0"/>
              <a:t>按一下圖示以新增圖片</a:t>
            </a:r>
            <a:endParaRPr lang="en-US" noProof="0" dirty="0"/>
          </a:p>
        </p:txBody>
      </p:sp>
      <p:sp>
        <p:nvSpPr>
          <p:cNvPr id="8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A10245-5177-4DF8-A448-9DB389FFADE6}" type="datetimeFigureOut">
              <a:rPr lang="zh-TW" altLang="en-US" smtClean="0"/>
              <a:t>2024/10/11</a:t>
            </a:fld>
            <a:endParaRPr lang="zh-TW" altLang="en-US"/>
          </a:p>
        </p:txBody>
      </p:sp>
      <p:sp>
        <p:nvSpPr>
          <p:cNvPr id="9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1219200" y="6172200"/>
            <a:ext cx="5181600" cy="457200"/>
          </a:xfrm>
        </p:spPr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10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194733" y="6208713"/>
            <a:ext cx="609600" cy="457200"/>
          </a:xfrm>
        </p:spPr>
        <p:txBody>
          <a:bodyPr/>
          <a:lstStyle>
            <a:lvl1pPr>
              <a:defRPr/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2598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A10245-5177-4DF8-A448-9DB389FFADE6}" type="datetimeFigureOut">
              <a:rPr lang="zh-TW" altLang="en-US" smtClean="0"/>
              <a:t>2024/10/11</a:t>
            </a:fld>
            <a:endParaRPr lang="zh-TW" altLang="en-US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254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A10245-5177-4DF8-A448-9DB389FFADE6}" type="datetimeFigureOut">
              <a:rPr lang="zh-TW" altLang="en-US" smtClean="0"/>
              <a:t>2024/10/11</a:t>
            </a:fld>
            <a:endParaRPr lang="zh-TW" altLang="en-US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2615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 useBgFill="1">
        <p:nvSpPr>
          <p:cNvPr id="8" name="圓角矩形 7"/>
          <p:cNvSpPr/>
          <p:nvPr/>
        </p:nvSpPr>
        <p:spPr>
          <a:xfrm>
            <a:off x="84668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1028" name="標題版面配置區 21"/>
          <p:cNvSpPr>
            <a:spLocks noGrp="1"/>
          </p:cNvSpPr>
          <p:nvPr>
            <p:ph type="title"/>
          </p:nvPr>
        </p:nvSpPr>
        <p:spPr bwMode="auto"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9" name="文字版面配置區 12"/>
          <p:cNvSpPr>
            <a:spLocks noGrp="1"/>
          </p:cNvSpPr>
          <p:nvPr>
            <p:ph type="body" idx="1"/>
          </p:nvPr>
        </p:nvSpPr>
        <p:spPr bwMode="auto"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D1A10245-5177-4DF8-A448-9DB389FFADE6}" type="datetimeFigureOut">
              <a:rPr lang="zh-TW" altLang="en-US" smtClean="0"/>
              <a:t>2024/10/11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19473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sz="14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</a:defRPr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7658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9pPr>
    </p:titleStyle>
    <p:bodyStyle>
      <a:lvl1pPr marL="273050" indent="-273050" algn="l" rtl="0" eaLnBrk="1" fontAlgn="base" hangingPunct="1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1" fontAlgn="base" hangingPunct="1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1" fontAlgn="base" hangingPunct="1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1" fontAlgn="base" hangingPunct="1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fontAlgn="base" hangingPunct="1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Narcissistic_numbe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Fibonacci_number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62494" y="357765"/>
            <a:ext cx="10363200" cy="1143000"/>
          </a:xfrm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  <a:latin typeface="+mj-ea"/>
              </a:rPr>
              <a:t>Homework 2</a:t>
            </a:r>
            <a:endParaRPr lang="zh-TW" altLang="en-US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914400" y="1597429"/>
            <a:ext cx="10363200" cy="4572000"/>
          </a:xfrm>
        </p:spPr>
        <p:txBody>
          <a:bodyPr/>
          <a:lstStyle/>
          <a:p>
            <a:r>
              <a:rPr lang="en-US" altLang="zh-TW" sz="1800" dirty="0">
                <a:latin typeface="+mj-ea"/>
                <a:ea typeface="+mj-ea"/>
              </a:rPr>
              <a:t>Implement a JavaScript program that reads 8 integers from the keyboard and </a:t>
            </a:r>
            <a:r>
              <a:rPr lang="en-US" altLang="zh-TW" sz="1800" dirty="0">
                <a:solidFill>
                  <a:srgbClr val="FF0000"/>
                </a:solidFill>
                <a:latin typeface="+mj-ea"/>
                <a:ea typeface="+mj-ea"/>
              </a:rPr>
              <a:t>print</a:t>
            </a:r>
            <a:r>
              <a:rPr lang="en-US" altLang="zh-TW" sz="1800" dirty="0">
                <a:latin typeface="+mj-ea"/>
                <a:ea typeface="+mj-ea"/>
              </a:rPr>
              <a:t> them on the webpage</a:t>
            </a:r>
            <a:r>
              <a:rPr lang="zh-TW" altLang="en-US" sz="1800" dirty="0">
                <a:latin typeface="+mj-ea"/>
                <a:ea typeface="+mj-ea"/>
              </a:rPr>
              <a:t> </a:t>
            </a:r>
            <a:r>
              <a:rPr lang="en-US" altLang="zh-TW" sz="1800" dirty="0">
                <a:latin typeface="+mj-ea"/>
                <a:ea typeface="+mj-ea"/>
              </a:rPr>
              <a:t>by using </a:t>
            </a:r>
            <a:r>
              <a:rPr lang="en-US" altLang="zh-TW" sz="1800" dirty="0">
                <a:solidFill>
                  <a:srgbClr val="FF0000"/>
                </a:solidFill>
                <a:latin typeface="+mj-ea"/>
                <a:ea typeface="+mj-ea"/>
              </a:rPr>
              <a:t>images of the digits</a:t>
            </a:r>
            <a:endParaRPr lang="en-US" altLang="zh-TW" sz="1800" dirty="0">
              <a:latin typeface="+mj-ea"/>
              <a:ea typeface="+mj-ea"/>
            </a:endParaRPr>
          </a:p>
          <a:p>
            <a:pPr lvl="1"/>
            <a:r>
              <a:rPr lang="en-US" altLang="zh-TW" sz="1800" dirty="0">
                <a:latin typeface="+mj-ea"/>
                <a:ea typeface="+mj-ea"/>
              </a:rPr>
              <a:t>Show all the numbers by images, </a:t>
            </a:r>
          </a:p>
          <a:p>
            <a:pPr lvl="1"/>
            <a:r>
              <a:rPr lang="en-US" altLang="zh-TW" sz="1800" dirty="0">
                <a:latin typeface="+mj-ea"/>
                <a:ea typeface="+mj-ea"/>
              </a:rPr>
              <a:t>The range of the numbers is 1~999</a:t>
            </a:r>
          </a:p>
          <a:p>
            <a:pPr lvl="2"/>
            <a:r>
              <a:rPr lang="en-US" altLang="zh-TW" sz="1800" dirty="0">
                <a:latin typeface="+mj-ea"/>
                <a:ea typeface="+mj-ea"/>
              </a:rPr>
              <a:t>You need to handle the issue if the input integer is out of range</a:t>
            </a:r>
          </a:p>
          <a:p>
            <a:pPr lvl="2"/>
            <a:r>
              <a:rPr lang="en-US" altLang="zh-TW" sz="1800" dirty="0">
                <a:latin typeface="+mj-ea"/>
                <a:ea typeface="+mj-ea"/>
              </a:rPr>
              <a:t>Without the code, </a:t>
            </a:r>
            <a:r>
              <a:rPr lang="en-US" altLang="zh-TW" sz="1800" dirty="0">
                <a:solidFill>
                  <a:srgbClr val="FF0000"/>
                </a:solidFill>
                <a:latin typeface="+mj-ea"/>
                <a:ea typeface="+mj-ea"/>
              </a:rPr>
              <a:t>20</a:t>
            </a:r>
            <a:r>
              <a:rPr lang="en-US" altLang="zh-TW" sz="1800" dirty="0">
                <a:latin typeface="+mj-ea"/>
                <a:ea typeface="+mj-ea"/>
              </a:rPr>
              <a:t> points will be deducted</a:t>
            </a:r>
          </a:p>
          <a:p>
            <a:r>
              <a:rPr lang="en-US" altLang="zh-TW" sz="1800" dirty="0">
                <a:latin typeface="+mj-ea"/>
                <a:ea typeface="+mj-ea"/>
              </a:rPr>
              <a:t>Parse these 8 integers to find and </a:t>
            </a:r>
            <a:r>
              <a:rPr lang="en-US" altLang="zh-TW" sz="1800" dirty="0">
                <a:solidFill>
                  <a:srgbClr val="FF0000"/>
                </a:solidFill>
                <a:latin typeface="+mj-ea"/>
                <a:ea typeface="+mj-ea"/>
              </a:rPr>
              <a:t>print</a:t>
            </a:r>
          </a:p>
          <a:p>
            <a:pPr lvl="1"/>
            <a:r>
              <a:rPr lang="en-US" altLang="zh-TW" sz="1800" dirty="0">
                <a:latin typeface="+mj-ea"/>
                <a:ea typeface="+mj-ea"/>
              </a:rPr>
              <a:t>Maximum </a:t>
            </a:r>
          </a:p>
          <a:p>
            <a:pPr lvl="1"/>
            <a:r>
              <a:rPr lang="en-US" altLang="zh-TW" sz="1800" dirty="0">
                <a:latin typeface="+mj-ea"/>
                <a:ea typeface="+mj-ea"/>
              </a:rPr>
              <a:t>Minimum</a:t>
            </a:r>
          </a:p>
          <a:p>
            <a:pPr lvl="1"/>
            <a:r>
              <a:rPr lang="en-US" altLang="zh-TW" sz="1800" dirty="0">
                <a:latin typeface="+mj-ea"/>
                <a:ea typeface="+mj-ea"/>
              </a:rPr>
              <a:t>Median</a:t>
            </a:r>
          </a:p>
          <a:p>
            <a:pPr lvl="1"/>
            <a:r>
              <a:rPr lang="en-US" altLang="zh-TW" sz="1800" dirty="0">
                <a:latin typeface="+mj-ea"/>
                <a:ea typeface="+mj-ea"/>
              </a:rPr>
              <a:t>Prime numbers</a:t>
            </a:r>
          </a:p>
          <a:p>
            <a:pPr lvl="1"/>
            <a:r>
              <a:rPr lang="en-US" altLang="zh-TW" sz="1800" dirty="0">
                <a:latin typeface="+mj-ea"/>
                <a:ea typeface="+mj-ea"/>
              </a:rPr>
              <a:t>Armstrong numbers, if you copy the code from Wiki, </a:t>
            </a:r>
            <a:r>
              <a:rPr lang="en-US" altLang="zh-TW" sz="1800" dirty="0">
                <a:solidFill>
                  <a:srgbClr val="FF0000"/>
                </a:solidFill>
                <a:latin typeface="+mj-ea"/>
                <a:ea typeface="+mj-ea"/>
              </a:rPr>
              <a:t>50</a:t>
            </a:r>
            <a:r>
              <a:rPr lang="en-US" altLang="zh-TW" sz="1800" dirty="0">
                <a:latin typeface="+mj-ea"/>
                <a:ea typeface="+mj-ea"/>
              </a:rPr>
              <a:t> points will be deducted </a:t>
            </a:r>
            <a:r>
              <a:rPr lang="en-US" altLang="zh-TW" sz="1800" dirty="0">
                <a:latin typeface="+mj-ea"/>
                <a:ea typeface="+mj-ea"/>
                <a:hlinkClick r:id="rId3"/>
              </a:rPr>
              <a:t>https://en.wikipedia.org/wiki/Narcissistic_number</a:t>
            </a:r>
            <a:endParaRPr lang="en-US" altLang="zh-TW" sz="1800" dirty="0">
              <a:latin typeface="+mj-ea"/>
              <a:ea typeface="+mj-ea"/>
            </a:endParaRPr>
          </a:p>
          <a:p>
            <a:pPr marL="319088" lvl="1" indent="0">
              <a:buNone/>
            </a:pPr>
            <a:endParaRPr lang="en-US" altLang="zh-TW" sz="1800" dirty="0">
              <a:latin typeface="+mj-ea"/>
              <a:ea typeface="+mj-ea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A2D7C25-BF80-4D90-AA3B-95A4AF26AF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9325" y="1954728"/>
            <a:ext cx="744282" cy="77184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F25815B-D725-4861-BCD7-5F89120FDD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387" y="1977982"/>
            <a:ext cx="556953" cy="760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683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914400" y="1680557"/>
            <a:ext cx="10363200" cy="5002876"/>
          </a:xfrm>
        </p:spPr>
        <p:txBody>
          <a:bodyPr/>
          <a:lstStyle/>
          <a:p>
            <a:r>
              <a:rPr lang="en-US" altLang="zh-TW" sz="1800" dirty="0">
                <a:latin typeface="+mj-ea"/>
                <a:ea typeface="+mj-ea"/>
              </a:rPr>
              <a:t>If the integers belong to the integers of the Fibonacci sequence, you need to print them out.</a:t>
            </a:r>
            <a:endParaRPr lang="en-US" altLang="zh-TW" sz="1800" dirty="0">
              <a:solidFill>
                <a:srgbClr val="FF0000"/>
              </a:solidFill>
              <a:latin typeface="+mj-ea"/>
              <a:ea typeface="+mj-ea"/>
            </a:endParaRPr>
          </a:p>
          <a:p>
            <a:pPr lvl="1"/>
            <a:r>
              <a:rPr lang="en-US" altLang="zh-TW" sz="1800" dirty="0">
                <a:latin typeface="+mj-ea"/>
                <a:ea typeface="+mj-ea"/>
              </a:rPr>
              <a:t>Fibonacci sequence </a:t>
            </a:r>
            <a:r>
              <a:rPr lang="en-US" altLang="zh-TW" sz="1800" dirty="0">
                <a:latin typeface="+mj-ea"/>
                <a:ea typeface="+mj-ea"/>
                <a:hlinkClick r:id="rId2"/>
              </a:rPr>
              <a:t>https://en.wikipedia.org/wiki/Fibonacci_number</a:t>
            </a:r>
            <a:endParaRPr lang="en-US" altLang="zh-TW" sz="1800" dirty="0">
              <a:latin typeface="+mj-ea"/>
              <a:ea typeface="+mj-ea"/>
            </a:endParaRPr>
          </a:p>
          <a:p>
            <a:r>
              <a:rPr lang="en-US" altLang="zh-TW" sz="1800" dirty="0">
                <a:latin typeface="+mj-ea"/>
                <a:ea typeface="+mj-ea"/>
              </a:rPr>
              <a:t>Use </a:t>
            </a:r>
            <a:r>
              <a:rPr lang="en-US" altLang="zh-TW" sz="1800" dirty="0">
                <a:solidFill>
                  <a:srgbClr val="FF0000"/>
                </a:solidFill>
                <a:latin typeface="+mj-ea"/>
                <a:ea typeface="+mj-ea"/>
              </a:rPr>
              <a:t>CSS</a:t>
            </a:r>
            <a:r>
              <a:rPr lang="en-US" altLang="zh-TW" sz="1800" dirty="0">
                <a:latin typeface="+mj-ea"/>
                <a:ea typeface="+mj-ea"/>
              </a:rPr>
              <a:t> and </a:t>
            </a:r>
            <a:r>
              <a:rPr lang="en-US" altLang="zh-TW" sz="1800" dirty="0">
                <a:solidFill>
                  <a:srgbClr val="FF0000"/>
                </a:solidFill>
                <a:latin typeface="+mj-ea"/>
                <a:ea typeface="+mj-ea"/>
              </a:rPr>
              <a:t>HTML</a:t>
            </a:r>
            <a:r>
              <a:rPr lang="en-US" altLang="zh-TW" sz="1800" dirty="0">
                <a:latin typeface="+mj-ea"/>
                <a:ea typeface="+mj-ea"/>
              </a:rPr>
              <a:t> to present your output results</a:t>
            </a:r>
          </a:p>
          <a:p>
            <a:pPr lvl="1"/>
            <a:r>
              <a:rPr lang="en-US" altLang="zh-TW" sz="1800" dirty="0">
                <a:latin typeface="+mj-ea"/>
                <a:ea typeface="+mj-ea"/>
              </a:rPr>
              <a:t>At least two tables are necessary</a:t>
            </a:r>
          </a:p>
          <a:p>
            <a:pPr lvl="2"/>
            <a:r>
              <a:rPr lang="en-US" altLang="zh-TW" sz="1800" dirty="0">
                <a:latin typeface="+mj-ea"/>
                <a:ea typeface="+mj-ea"/>
              </a:rPr>
              <a:t>Without the table, </a:t>
            </a:r>
            <a:r>
              <a:rPr lang="en-US" altLang="zh-TW" sz="1800" dirty="0">
                <a:solidFill>
                  <a:srgbClr val="FF0000"/>
                </a:solidFill>
                <a:latin typeface="+mj-ea"/>
                <a:ea typeface="+mj-ea"/>
              </a:rPr>
              <a:t>20</a:t>
            </a:r>
            <a:r>
              <a:rPr lang="en-US" altLang="zh-TW" sz="1800" dirty="0">
                <a:latin typeface="+mj-ea"/>
                <a:ea typeface="+mj-ea"/>
              </a:rPr>
              <a:t> points will be deducted</a:t>
            </a:r>
          </a:p>
          <a:p>
            <a:pPr lvl="2"/>
            <a:r>
              <a:rPr lang="en-US" altLang="zh-TW" sz="1800" dirty="0">
                <a:latin typeface="+mj-ea"/>
                <a:ea typeface="+mj-ea"/>
              </a:rPr>
              <a:t>All results need to be rendered by </a:t>
            </a:r>
            <a:r>
              <a:rPr lang="en-US" altLang="zh-TW" sz="1800" dirty="0">
                <a:solidFill>
                  <a:srgbClr val="FF0000"/>
                </a:solidFill>
                <a:latin typeface="+mj-ea"/>
                <a:ea typeface="+mj-ea"/>
              </a:rPr>
              <a:t>images of the digits</a:t>
            </a:r>
            <a:endParaRPr lang="en-US" altLang="zh-TW" sz="1800" dirty="0">
              <a:latin typeface="+mj-ea"/>
              <a:ea typeface="+mj-ea"/>
            </a:endParaRPr>
          </a:p>
          <a:p>
            <a:pPr>
              <a:defRPr/>
            </a:pPr>
            <a:r>
              <a:rPr lang="en-US" altLang="zh-TW" sz="1800" dirty="0">
                <a:latin typeface="+mj-ea"/>
                <a:ea typeface="+mj-ea"/>
              </a:rPr>
              <a:t>Source code comments are welcome</a:t>
            </a:r>
          </a:p>
          <a:p>
            <a:pPr>
              <a:defRPr/>
            </a:pPr>
            <a:r>
              <a:rPr lang="en-US" altLang="zh-TW" sz="1800" strike="sngStrike" dirty="0">
                <a:latin typeface="+mj-ea"/>
                <a:ea typeface="+mj-ea"/>
              </a:rPr>
              <a:t>As I have mentioned in class, no </a:t>
            </a:r>
            <a:r>
              <a:rPr lang="en-US" altLang="zh-TW" sz="1800" strike="sngStrike" dirty="0">
                <a:solidFill>
                  <a:srgbClr val="FF0000"/>
                </a:solidFill>
                <a:latin typeface="+mj-ea"/>
                <a:ea typeface="+mj-ea"/>
              </a:rPr>
              <a:t>array</a:t>
            </a:r>
            <a:r>
              <a:rPr lang="en-US" altLang="zh-TW" sz="1800" strike="sngStrike" dirty="0">
                <a:latin typeface="+mj-ea"/>
                <a:ea typeface="+mj-ea"/>
              </a:rPr>
              <a:t> is allowable</a:t>
            </a:r>
          </a:p>
          <a:p>
            <a:pPr lvl="1">
              <a:defRPr/>
            </a:pPr>
            <a:r>
              <a:rPr lang="en-US" altLang="zh-TW" sz="1800" strike="sngStrike" dirty="0">
                <a:latin typeface="+mj-ea"/>
                <a:ea typeface="+mj-ea"/>
              </a:rPr>
              <a:t>If you use </a:t>
            </a:r>
            <a:r>
              <a:rPr lang="en-US" altLang="zh-TW" sz="1800" strike="sngStrike" dirty="0">
                <a:solidFill>
                  <a:srgbClr val="FF0000"/>
                </a:solidFill>
                <a:latin typeface="+mj-ea"/>
                <a:ea typeface="+mj-ea"/>
              </a:rPr>
              <a:t>array</a:t>
            </a:r>
            <a:r>
              <a:rPr lang="en-US" altLang="zh-TW" sz="1800" strike="sngStrike" dirty="0">
                <a:latin typeface="+mj-ea"/>
                <a:ea typeface="+mj-ea"/>
              </a:rPr>
              <a:t>, the grade will be </a:t>
            </a:r>
            <a:r>
              <a:rPr lang="en-US" altLang="zh-TW" sz="1800" strike="sngStrike" dirty="0">
                <a:solidFill>
                  <a:srgbClr val="FF0000"/>
                </a:solidFill>
                <a:latin typeface="+mj-ea"/>
                <a:ea typeface="+mj-ea"/>
              </a:rPr>
              <a:t>0</a:t>
            </a:r>
            <a:r>
              <a:rPr lang="en-US" altLang="zh-TW" sz="1800" strike="sngStrike" dirty="0">
                <a:latin typeface="+mj-ea"/>
                <a:ea typeface="+mj-ea"/>
              </a:rPr>
              <a:t> point </a:t>
            </a:r>
          </a:p>
          <a:p>
            <a:pPr lvl="1">
              <a:defRPr/>
            </a:pPr>
            <a:r>
              <a:rPr lang="en-US" altLang="zh-TW" sz="1800" dirty="0">
                <a:solidFill>
                  <a:srgbClr val="FF0000"/>
                </a:solidFill>
                <a:latin typeface="+mj-ea"/>
                <a:ea typeface="+mj-ea"/>
              </a:rPr>
              <a:t>Each array will be deducted 20 points</a:t>
            </a:r>
          </a:p>
          <a:p>
            <a:pPr>
              <a:defRPr/>
            </a:pPr>
            <a:r>
              <a:rPr lang="en-US" altLang="zh-TW" sz="1800" dirty="0">
                <a:latin typeface="+mj-ea"/>
                <a:ea typeface="+mj-ea"/>
              </a:rPr>
              <a:t>The content and layout will affect your grade </a:t>
            </a:r>
          </a:p>
          <a:p>
            <a:pPr>
              <a:defRPr/>
            </a:pPr>
            <a:r>
              <a:rPr lang="en-US" altLang="zh-TW" sz="1800" dirty="0">
                <a:solidFill>
                  <a:srgbClr val="FF0000"/>
                </a:solidFill>
                <a:latin typeface="+mj-ea"/>
                <a:ea typeface="+mj-ea"/>
              </a:rPr>
              <a:t>Delay = Copy = 0</a:t>
            </a:r>
          </a:p>
          <a:p>
            <a:pPr>
              <a:defRPr/>
            </a:pPr>
            <a:r>
              <a:rPr lang="en-US" altLang="zh-TW" sz="1800" dirty="0">
                <a:latin typeface="+mj-ea"/>
                <a:ea typeface="+mj-ea"/>
              </a:rPr>
              <a:t>We will use </a:t>
            </a:r>
            <a:r>
              <a:rPr lang="en-US" altLang="zh-TW" sz="1800" dirty="0">
                <a:solidFill>
                  <a:srgbClr val="FF0000"/>
                </a:solidFill>
                <a:latin typeface="+mj-ea"/>
                <a:ea typeface="+mj-ea"/>
              </a:rPr>
              <a:t>Microsoft Edge</a:t>
            </a:r>
            <a:r>
              <a:rPr lang="zh-TW" altLang="en-US" sz="1800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zh-TW" sz="1800" dirty="0">
                <a:latin typeface="+mj-ea"/>
                <a:ea typeface="+mj-ea"/>
              </a:rPr>
              <a:t>to check your homework</a:t>
            </a:r>
          </a:p>
          <a:p>
            <a:pPr>
              <a:defRPr/>
            </a:pPr>
            <a:r>
              <a:rPr lang="en-US" altLang="zh-TW" sz="1800" dirty="0">
                <a:latin typeface="+mj-ea"/>
                <a:ea typeface="+mj-ea"/>
              </a:rPr>
              <a:t>Name it </a:t>
            </a:r>
            <a:r>
              <a:rPr lang="en-US" altLang="zh-TW" sz="1800" dirty="0">
                <a:solidFill>
                  <a:srgbClr val="FF0000"/>
                </a:solidFill>
                <a:latin typeface="+mj-ea"/>
                <a:ea typeface="+mj-ea"/>
              </a:rPr>
              <a:t>index.html</a:t>
            </a:r>
            <a:r>
              <a:rPr lang="en-US" altLang="zh-TW" sz="1800" dirty="0">
                <a:latin typeface="+mj-ea"/>
                <a:ea typeface="+mj-ea"/>
              </a:rPr>
              <a:t>, we will access the website from here</a:t>
            </a:r>
          </a:p>
          <a:p>
            <a:pPr lvl="1">
              <a:defRPr/>
            </a:pPr>
            <a:r>
              <a:rPr lang="en-US" altLang="zh-TW" sz="1800" dirty="0">
                <a:latin typeface="+mj-ea"/>
                <a:ea typeface="+mj-ea"/>
              </a:rPr>
              <a:t> You can create multiple html files (name other files as you want)</a:t>
            </a:r>
            <a:endParaRPr lang="zh-TW" altLang="en-US" sz="1800" dirty="0">
              <a:latin typeface="+mj-ea"/>
              <a:ea typeface="+mj-ea"/>
            </a:endParaRPr>
          </a:p>
          <a:p>
            <a:pPr>
              <a:defRPr/>
            </a:pPr>
            <a:endParaRPr lang="zh-TW" altLang="en-US" sz="1800" dirty="0">
              <a:latin typeface="+mj-ea"/>
              <a:ea typeface="+mj-ea"/>
            </a:endParaRPr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54676598-72B9-4E2A-97FF-E88C7F20F510}"/>
              </a:ext>
            </a:extLst>
          </p:cNvPr>
          <p:cNvSpPr txBox="1">
            <a:spLocks/>
          </p:cNvSpPr>
          <p:nvPr/>
        </p:nvSpPr>
        <p:spPr bwMode="auto">
          <a:xfrm>
            <a:off x="562494" y="357765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9pPr>
          </a:lstStyle>
          <a:p>
            <a:r>
              <a:rPr lang="en-US" altLang="zh-TW" dirty="0">
                <a:solidFill>
                  <a:schemeClr val="tx1"/>
                </a:solidFill>
                <a:latin typeface="+mj-ea"/>
              </a:rPr>
              <a:t>Homework 2</a:t>
            </a:r>
            <a:endParaRPr lang="zh-TW" altLang="en-US" dirty="0">
              <a:solidFill>
                <a:schemeClr val="tx1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91747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44C7C1-9171-4C6C-927C-7EB4E81A1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Homework 2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0DD5EA-A3D9-457D-889F-0C7E5F92958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You </a:t>
            </a:r>
            <a:r>
              <a:rPr lang="en-US" altLang="zh-TW" dirty="0">
                <a:solidFill>
                  <a:srgbClr val="FF0000"/>
                </a:solidFill>
              </a:rPr>
              <a:t>can</a:t>
            </a:r>
            <a:r>
              <a:rPr lang="en-US" altLang="zh-TW" dirty="0"/>
              <a:t> store your answers to string</a:t>
            </a:r>
            <a:endParaRPr lang="zh-TW" altLang="en-US" dirty="0"/>
          </a:p>
          <a:p>
            <a:pPr lvl="1"/>
            <a:r>
              <a:rPr lang="en-US" altLang="zh-TW" dirty="0"/>
              <a:t>Then using [] to get character for rendering images </a:t>
            </a:r>
          </a:p>
          <a:p>
            <a:r>
              <a:rPr lang="en-US" altLang="zh-TW" dirty="0"/>
              <a:t>No [] can be used in remaining codes</a:t>
            </a:r>
          </a:p>
          <a:p>
            <a:r>
              <a:rPr lang="en-US" altLang="zh-TW" dirty="0"/>
              <a:t>No </a:t>
            </a:r>
            <a:r>
              <a:rPr lang="en-US" altLang="zh-TW" dirty="0" err="1"/>
              <a:t>iterable</a:t>
            </a:r>
            <a:r>
              <a:rPr lang="en-US" altLang="zh-TW" dirty="0"/>
              <a:t> object in remaining codes</a:t>
            </a:r>
          </a:p>
          <a:p>
            <a:r>
              <a:rPr lang="en-US" altLang="zh-TW" dirty="0"/>
              <a:t>The following code is not allowable</a:t>
            </a:r>
          </a:p>
          <a:p>
            <a:pPr lvl="1"/>
            <a:endParaRPr lang="en-US" altLang="zh-TW" dirty="0"/>
          </a:p>
          <a:p>
            <a:pPr lvl="1"/>
            <a:endParaRPr lang="zh-TW" altLang="en-US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r>
              <a:rPr lang="en-US" altLang="zh-TW" dirty="0"/>
              <a:t>No </a:t>
            </a:r>
            <a:r>
              <a:rPr lang="en-US" altLang="zh-TW" dirty="0" err="1"/>
              <a:t>querySelectorAll</a:t>
            </a:r>
            <a:r>
              <a:rPr lang="en-US" altLang="zh-TW" dirty="0"/>
              <a:t>()</a:t>
            </a:r>
          </a:p>
          <a:p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69951E8-7B20-4923-AAD8-5002BD4C7E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443" y="3733800"/>
            <a:ext cx="7458974" cy="1408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769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內容版面配置區 2"/>
          <p:cNvSpPr>
            <a:spLocks noGrp="1"/>
          </p:cNvSpPr>
          <p:nvPr>
            <p:ph sz="quarter" idx="1"/>
          </p:nvPr>
        </p:nvSpPr>
        <p:spPr>
          <a:xfrm>
            <a:off x="914400" y="1500765"/>
            <a:ext cx="10363200" cy="4572000"/>
          </a:xfrm>
        </p:spPr>
        <p:txBody>
          <a:bodyPr/>
          <a:lstStyle/>
          <a:p>
            <a:r>
              <a:rPr lang="en-US" altLang="zh-TW" sz="1800" dirty="0">
                <a:latin typeface="+mj-ea"/>
                <a:ea typeface="+mj-ea"/>
              </a:rPr>
              <a:t>Deadline: 10/13 23:30</a:t>
            </a:r>
          </a:p>
          <a:p>
            <a:r>
              <a:rPr lang="en-US" altLang="zh-TW" sz="1800" dirty="0">
                <a:latin typeface="+mj-ea"/>
                <a:ea typeface="+mj-ea"/>
              </a:rPr>
              <a:t>Upload to E3</a:t>
            </a:r>
          </a:p>
          <a:p>
            <a:pPr lvl="2"/>
            <a:r>
              <a:rPr lang="en-US" altLang="zh-TW" sz="1800" dirty="0">
                <a:solidFill>
                  <a:srgbClr val="FF0000"/>
                </a:solidFill>
                <a:latin typeface="+mj-ea"/>
                <a:ea typeface="+mj-ea"/>
              </a:rPr>
              <a:t>Zip the whole web site!</a:t>
            </a:r>
          </a:p>
          <a:p>
            <a:pPr lvl="2"/>
            <a:r>
              <a:rPr lang="en-US" altLang="zh-TW" sz="1800" dirty="0">
                <a:latin typeface="+mj-ea"/>
                <a:ea typeface="+mj-ea"/>
              </a:rPr>
              <a:t>Otherwise your grade will be deducted by </a:t>
            </a:r>
            <a:r>
              <a:rPr lang="en-US" altLang="zh-TW" sz="1800" dirty="0">
                <a:solidFill>
                  <a:srgbClr val="FF0000"/>
                </a:solidFill>
                <a:latin typeface="+mj-ea"/>
                <a:ea typeface="+mj-ea"/>
              </a:rPr>
              <a:t>20</a:t>
            </a:r>
          </a:p>
          <a:p>
            <a:r>
              <a:rPr lang="en-US" altLang="zh-TW" sz="1800" dirty="0">
                <a:latin typeface="+mj-ea"/>
                <a:ea typeface="+mj-ea"/>
              </a:rPr>
              <a:t>Title of the index.html file (&lt;title&gt;) &amp; file name</a:t>
            </a:r>
          </a:p>
          <a:p>
            <a:pPr lvl="2"/>
            <a:r>
              <a:rPr lang="en-US" altLang="zh-TW" sz="1800" dirty="0">
                <a:latin typeface="+mj-ea"/>
                <a:ea typeface="+mj-ea"/>
              </a:rPr>
              <a:t>HW2_</a:t>
            </a:r>
            <a:r>
              <a:rPr lang="zh-TW" altLang="en-US" sz="1800" dirty="0">
                <a:latin typeface="+mj-ea"/>
                <a:ea typeface="+mj-ea"/>
              </a:rPr>
              <a:t>學號</a:t>
            </a:r>
            <a:r>
              <a:rPr lang="en-US" altLang="zh-TW" sz="1800" dirty="0">
                <a:latin typeface="+mj-ea"/>
                <a:ea typeface="+mj-ea"/>
              </a:rPr>
              <a:t>_</a:t>
            </a:r>
            <a:r>
              <a:rPr lang="zh-TW" altLang="en-US" sz="1800" dirty="0">
                <a:latin typeface="+mj-ea"/>
                <a:ea typeface="+mj-ea"/>
              </a:rPr>
              <a:t>學生名</a:t>
            </a:r>
            <a:endParaRPr lang="en-US" altLang="zh-TW" sz="1800" dirty="0">
              <a:latin typeface="+mj-ea"/>
              <a:ea typeface="+mj-ea"/>
            </a:endParaRPr>
          </a:p>
          <a:p>
            <a:pPr lvl="2" eaLnBrk="1" hangingPunct="1"/>
            <a:r>
              <a:rPr lang="en-US" altLang="zh-TW" sz="1800" dirty="0">
                <a:latin typeface="+mj-ea"/>
                <a:ea typeface="+mj-ea"/>
              </a:rPr>
              <a:t>HW2_</a:t>
            </a:r>
            <a:r>
              <a:rPr lang="zh-TW" altLang="en-US" sz="1800" dirty="0">
                <a:latin typeface="+mj-ea"/>
                <a:ea typeface="+mj-ea"/>
              </a:rPr>
              <a:t>學號</a:t>
            </a:r>
            <a:r>
              <a:rPr lang="en-US" altLang="zh-TW" sz="1800" dirty="0">
                <a:latin typeface="+mj-ea"/>
                <a:ea typeface="+mj-ea"/>
              </a:rPr>
              <a:t>_</a:t>
            </a:r>
            <a:r>
              <a:rPr lang="zh-TW" altLang="en-US" sz="1800" dirty="0">
                <a:latin typeface="+mj-ea"/>
                <a:ea typeface="+mj-ea"/>
              </a:rPr>
              <a:t>學生名</a:t>
            </a:r>
            <a:r>
              <a:rPr lang="en-US" altLang="zh-TW" sz="1800" dirty="0">
                <a:latin typeface="+mj-ea"/>
                <a:ea typeface="+mj-ea"/>
              </a:rPr>
              <a:t>.zip</a:t>
            </a:r>
          </a:p>
          <a:p>
            <a:pPr lvl="1"/>
            <a:r>
              <a:rPr lang="en-US" altLang="zh-TW" sz="1800" dirty="0">
                <a:latin typeface="+mj-ea"/>
                <a:ea typeface="+mj-ea"/>
              </a:rPr>
              <a:t>Otherwise your grade will be deducted by </a:t>
            </a:r>
            <a:r>
              <a:rPr lang="en-US" altLang="zh-TW" sz="1800" dirty="0">
                <a:solidFill>
                  <a:srgbClr val="FF0000"/>
                </a:solidFill>
                <a:latin typeface="+mj-ea"/>
                <a:ea typeface="+mj-ea"/>
              </a:rPr>
              <a:t>30</a:t>
            </a:r>
          </a:p>
          <a:p>
            <a:r>
              <a:rPr lang="en-US" altLang="zh-TW" sz="1800" dirty="0">
                <a:latin typeface="+mj-ea"/>
                <a:ea typeface="+mj-ea"/>
              </a:rPr>
              <a:t>In </a:t>
            </a:r>
            <a:r>
              <a:rPr lang="en-US" altLang="zh-TW" sz="1800" dirty="0">
                <a:solidFill>
                  <a:srgbClr val="FF0000"/>
                </a:solidFill>
                <a:latin typeface="+mj-ea"/>
                <a:ea typeface="+mj-ea"/>
              </a:rPr>
              <a:t>all </a:t>
            </a:r>
            <a:r>
              <a:rPr lang="en-US" altLang="zh-TW" sz="1800" dirty="0">
                <a:latin typeface="+mj-ea"/>
                <a:ea typeface="+mj-ea"/>
              </a:rPr>
              <a:t>the source code files, you need to add the identifications on the </a:t>
            </a:r>
            <a:r>
              <a:rPr lang="en-US" altLang="zh-TW" sz="1800" dirty="0">
                <a:solidFill>
                  <a:srgbClr val="FF0000"/>
                </a:solidFill>
                <a:latin typeface="+mj-ea"/>
                <a:ea typeface="+mj-ea"/>
              </a:rPr>
              <a:t>top</a:t>
            </a:r>
            <a:r>
              <a:rPr lang="en-US" altLang="zh-TW" sz="1800" dirty="0">
                <a:latin typeface="+mj-ea"/>
                <a:ea typeface="+mj-ea"/>
              </a:rPr>
              <a:t> of your files</a:t>
            </a:r>
          </a:p>
          <a:p>
            <a:pPr lvl="1"/>
            <a:r>
              <a:rPr lang="en-US" altLang="zh-TW" sz="1800" dirty="0">
                <a:latin typeface="+mj-ea"/>
                <a:ea typeface="+mj-ea"/>
              </a:rPr>
              <a:t>Otherwise your grade will be deducted by </a:t>
            </a:r>
            <a:r>
              <a:rPr lang="en-US" altLang="zh-TW" sz="1800" dirty="0">
                <a:solidFill>
                  <a:srgbClr val="FF0000"/>
                </a:solidFill>
                <a:latin typeface="+mj-ea"/>
                <a:ea typeface="+mj-ea"/>
              </a:rPr>
              <a:t>20</a:t>
            </a:r>
          </a:p>
          <a:p>
            <a:pPr lvl="1">
              <a:buNone/>
            </a:pPr>
            <a:r>
              <a:rPr lang="en-US" altLang="zh-TW" sz="1800" dirty="0">
                <a:latin typeface="+mj-ea"/>
                <a:ea typeface="+mj-ea"/>
              </a:rPr>
              <a:t>&lt;!--4001234567 </a:t>
            </a:r>
            <a:r>
              <a:rPr lang="zh-TW" altLang="en-US" sz="1800" dirty="0">
                <a:latin typeface="+mj-ea"/>
                <a:ea typeface="+mj-ea"/>
              </a:rPr>
              <a:t>王小明 第</a:t>
            </a:r>
            <a:r>
              <a:rPr lang="en-US" altLang="zh-TW" sz="1800" dirty="0">
                <a:latin typeface="+mj-ea"/>
                <a:ea typeface="+mj-ea"/>
              </a:rPr>
              <a:t>II</a:t>
            </a:r>
            <a:r>
              <a:rPr lang="zh-TW" altLang="en-US" sz="1800" dirty="0">
                <a:latin typeface="+mj-ea"/>
                <a:ea typeface="+mj-ea"/>
              </a:rPr>
              <a:t>次作業</a:t>
            </a:r>
            <a:r>
              <a:rPr lang="en-US" altLang="zh-TW" sz="1800" dirty="0">
                <a:latin typeface="+mj-ea"/>
                <a:ea typeface="+mj-ea"/>
              </a:rPr>
              <a:t>10/11</a:t>
            </a:r>
          </a:p>
          <a:p>
            <a:pPr algn="just">
              <a:buNone/>
            </a:pPr>
            <a:r>
              <a:rPr lang="en-US" altLang="zh-TW" sz="1800" dirty="0">
                <a:latin typeface="+mj-ea"/>
                <a:ea typeface="+mj-ea"/>
              </a:rPr>
              <a:t>	4001234567 Ming Wang</a:t>
            </a:r>
            <a:r>
              <a:rPr lang="zh-TW" altLang="en-US" sz="1800" dirty="0">
                <a:latin typeface="+mj-ea"/>
                <a:ea typeface="+mj-ea"/>
              </a:rPr>
              <a:t> </a:t>
            </a:r>
            <a:r>
              <a:rPr lang="en-US" altLang="zh-TW" sz="1800" dirty="0">
                <a:latin typeface="+mj-ea"/>
                <a:ea typeface="+mj-ea"/>
              </a:rPr>
              <a:t>The Second Homework 10/11--&gt;</a:t>
            </a:r>
            <a:endParaRPr lang="zh-TW" altLang="en-US" sz="1800" dirty="0">
              <a:latin typeface="+mj-ea"/>
              <a:ea typeface="+mj-ea"/>
            </a:endParaRPr>
          </a:p>
          <a:p>
            <a:endParaRPr lang="zh-TW" altLang="en-US" sz="2400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F488E0E7-1CBD-4A5E-B067-7D5903068D9C}"/>
              </a:ext>
            </a:extLst>
          </p:cNvPr>
          <p:cNvSpPr txBox="1">
            <a:spLocks/>
          </p:cNvSpPr>
          <p:nvPr/>
        </p:nvSpPr>
        <p:spPr bwMode="auto">
          <a:xfrm>
            <a:off x="562494" y="357765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9pPr>
          </a:lstStyle>
          <a:p>
            <a:r>
              <a:rPr lang="en-US" altLang="zh-TW" dirty="0">
                <a:solidFill>
                  <a:schemeClr val="tx1"/>
                </a:solidFill>
                <a:latin typeface="+mj-ea"/>
              </a:rPr>
              <a:t>Homework 2</a:t>
            </a:r>
            <a:endParaRPr lang="zh-TW" altLang="en-US" dirty="0">
              <a:solidFill>
                <a:schemeClr val="tx1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6437779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rendering">
  <a:themeElements>
    <a:clrScheme name="公正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公正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公正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ndering" id="{5CD00AD1-6BA4-41CA-9F19-A65B7D36E5CC}" vid="{E0C7B7D5-1702-4959-8F86-12A304187F22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rendering</Template>
  <TotalTime>239</TotalTime>
  <Words>406</Words>
  <Application>Microsoft Office PowerPoint</Application>
  <PresentationFormat>寬螢幕</PresentationFormat>
  <Paragraphs>54</Paragraphs>
  <Slides>4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微軟正黑體</vt:lpstr>
      <vt:lpstr>Calibri</vt:lpstr>
      <vt:lpstr>Franklin Gothic Book</vt:lpstr>
      <vt:lpstr>Perpetua</vt:lpstr>
      <vt:lpstr>Wingdings 2</vt:lpstr>
      <vt:lpstr>rendering</vt:lpstr>
      <vt:lpstr>Homework 2</vt:lpstr>
      <vt:lpstr>PowerPoint 簡報</vt:lpstr>
      <vt:lpstr>Homework 2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Homework 1</dc:title>
  <dc:creator>n</dc:creator>
  <cp:lastModifiedBy>婕妮 鄧</cp:lastModifiedBy>
  <cp:revision>87</cp:revision>
  <dcterms:created xsi:type="dcterms:W3CDTF">2016-03-08T06:05:10Z</dcterms:created>
  <dcterms:modified xsi:type="dcterms:W3CDTF">2024-10-11T03:06:13Z</dcterms:modified>
</cp:coreProperties>
</file>