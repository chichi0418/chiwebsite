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60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11" autoAdjust="0"/>
    <p:restoredTop sz="94660"/>
  </p:normalViewPr>
  <p:slideViewPr>
    <p:cSldViewPr snapToGrid="0">
      <p:cViewPr varScale="1">
        <p:scale>
          <a:sx n="92" d="100"/>
          <a:sy n="92" d="100"/>
        </p:scale>
        <p:origin x="115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ED353E-7507-4138-AA33-F5B7D349808B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AF393-DE0F-4C77-946F-44AEC44F880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66980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0AF393-DE0F-4C77-946F-44AEC44F880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42715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5" name="圓角矩形 4"/>
          <p:cNvSpPr/>
          <p:nvPr/>
        </p:nvSpPr>
        <p:spPr>
          <a:xfrm>
            <a:off x="86785" y="69851"/>
            <a:ext cx="12018433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84667" y="1449389"/>
            <a:ext cx="12026900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84667" y="1397000"/>
            <a:ext cx="12026900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4667" y="2976564"/>
            <a:ext cx="12026900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727200" y="3200400"/>
            <a:ext cx="85344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zh-TW" altLang="en-US"/>
              <a:t>按一下以編輯母片副標題樣式</a:t>
            </a:r>
            <a:endParaRPr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609600" y="1505931"/>
            <a:ext cx="109728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11" name="日期版面配置區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12" name="頁尾版面配置區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3" name="投影片編號版面配置區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47900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66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5" name="圓角矩形 4"/>
          <p:cNvSpPr/>
          <p:nvPr/>
        </p:nvSpPr>
        <p:spPr>
          <a:xfrm>
            <a:off x="87084" y="69756"/>
            <a:ext cx="12017829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 flipV="1">
            <a:off x="93134" y="2376489"/>
            <a:ext cx="12018433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3134" y="2341564"/>
            <a:ext cx="12018433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91018" y="2468564"/>
            <a:ext cx="12020549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9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10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1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6405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499872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6578600" y="1447800"/>
            <a:ext cx="4998720" cy="45720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6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7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754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192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6604000" y="1447800"/>
            <a:ext cx="49784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half" idx="2"/>
          </p:nvPr>
        </p:nvSpPr>
        <p:spPr>
          <a:xfrm>
            <a:off x="1219200" y="2247900"/>
            <a:ext cx="49784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half" idx="4"/>
          </p:nvPr>
        </p:nvSpPr>
        <p:spPr>
          <a:xfrm>
            <a:off x="6604000" y="2247900"/>
            <a:ext cx="4978400" cy="3886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8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9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080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4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5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871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4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58407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6" name="圓角矩形 5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73050"/>
            <a:ext cx="103632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1219200" y="1600200"/>
            <a:ext cx="2540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1"/>
          </p:nvPr>
        </p:nvSpPr>
        <p:spPr>
          <a:xfrm>
            <a:off x="3962400" y="1600200"/>
            <a:ext cx="7620000" cy="4495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8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9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53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 flipV="1">
            <a:off x="91018" y="4683126"/>
            <a:ext cx="12009967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018" y="4649789"/>
            <a:ext cx="12009967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91018" y="4773614"/>
            <a:ext cx="12009967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4900550"/>
            <a:ext cx="97536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219200" y="5445825"/>
            <a:ext cx="97536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91078" y="66676"/>
            <a:ext cx="12002497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zh-TW" altLang="en-US" noProof="0"/>
              <a:t>按一下圖示以新增圖片</a:t>
            </a:r>
            <a:endParaRPr lang="en-US" noProof="0" dirty="0"/>
          </a:p>
        </p:txBody>
      </p:sp>
      <p:sp>
        <p:nvSpPr>
          <p:cNvPr id="8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9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1219200" y="6172200"/>
            <a:ext cx="51816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10" name="投影片編號版面配置區 6"/>
          <p:cNvSpPr>
            <a:spLocks noGrp="1"/>
          </p:cNvSpPr>
          <p:nvPr>
            <p:ph type="sldNum" sz="quarter" idx="12"/>
          </p:nvPr>
        </p:nvSpPr>
        <p:spPr>
          <a:xfrm>
            <a:off x="194733" y="6208713"/>
            <a:ext cx="609600" cy="457200"/>
          </a:xfrm>
        </p:spPr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2598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254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2"/>
            <a:ext cx="268224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219200" y="274641"/>
            <a:ext cx="7416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5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TW" altLang="en-US"/>
          </a:p>
        </p:txBody>
      </p:sp>
      <p:sp>
        <p:nvSpPr>
          <p:cNvPr id="6" name="投影片編號版面配置區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2615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 useBgFill="1">
        <p:nvSpPr>
          <p:cNvPr id="8" name="圓角矩形 7"/>
          <p:cNvSpPr/>
          <p:nvPr/>
        </p:nvSpPr>
        <p:spPr>
          <a:xfrm>
            <a:off x="84668" y="69850"/>
            <a:ext cx="12018433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altLang="zh-TW" sz="1800">
              <a:solidFill>
                <a:srgbClr val="FFFFFF"/>
              </a:solidFill>
            </a:endParaRPr>
          </a:p>
        </p:txBody>
      </p:sp>
      <p:sp>
        <p:nvSpPr>
          <p:cNvPr id="1028" name="標題版面配置區 21"/>
          <p:cNvSpPr>
            <a:spLocks noGrp="1"/>
          </p:cNvSpPr>
          <p:nvPr>
            <p:ph type="title"/>
          </p:nvPr>
        </p:nvSpPr>
        <p:spPr bwMode="auto">
          <a:xfrm>
            <a:off x="1219200" y="274638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9" name="文字版面配置區 12"/>
          <p:cNvSpPr>
            <a:spLocks noGrp="1"/>
          </p:cNvSpPr>
          <p:nvPr>
            <p:ph type="body" idx="1"/>
          </p:nvPr>
        </p:nvSpPr>
        <p:spPr bwMode="auto">
          <a:xfrm>
            <a:off x="1219200" y="1447800"/>
            <a:ext cx="103632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8229600" y="6191250"/>
            <a:ext cx="33020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1A10245-5177-4DF8-A448-9DB389FFADE6}" type="datetimeFigureOut">
              <a:rPr lang="zh-TW" altLang="en-US" smtClean="0"/>
              <a:t>2024/11/1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194733" y="6210300"/>
            <a:ext cx="609600" cy="457200"/>
          </a:xfrm>
          <a:prstGeom prst="ellipse">
            <a:avLst/>
          </a:prstGeom>
          <a:solidFill>
            <a:schemeClr val="accent1"/>
          </a:solidFill>
        </p:spPr>
        <p:txBody>
          <a:bodyPr vert="horz" wrap="none" lIns="0" tIns="0" rIns="0" bIns="0" numCol="1" anchor="ctr" anchorCtr="1" compatLnSpc="1">
            <a:prstTxWarp prst="textNoShape">
              <a:avLst/>
            </a:prstTxWarp>
            <a:noAutofit/>
          </a:bodyPr>
          <a:lstStyle>
            <a:lvl1pPr algn="ctr" eaLnBrk="1" hangingPunct="1">
              <a:defRPr sz="1400">
                <a:solidFill>
                  <a:srgbClr val="FFFFFF"/>
                </a:solidFill>
                <a:latin typeface="Franklin Gothic Book" panose="020B0503020102020204" pitchFamily="34" charset="0"/>
                <a:ea typeface="微軟正黑體" panose="020B0604030504040204" pitchFamily="34" charset="-120"/>
              </a:defRPr>
            </a:lvl1pPr>
          </a:lstStyle>
          <a:p>
            <a:fld id="{798B0732-06FE-42F5-94EF-1DCEFA613B2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7658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1" fontAlgn="base" hangingPunct="1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7688" indent="-228600" algn="l" rtl="0" eaLnBrk="1" fontAlgn="base" hangingPunct="1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anose="05020102010507070707" pitchFamily="18" charset="2"/>
        <a:buChar char="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325" indent="-228600" algn="l" rtl="0" eaLnBrk="1" fontAlgn="base" hangingPunct="1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6963" indent="-228600" algn="l" rtl="0" eaLnBrk="1" fontAlgn="base" hangingPunct="1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anose="05020102010507070707" pitchFamily="18" charset="2"/>
        <a:buChar char="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fontAlgn="base" hangingPunct="1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lackjac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4 Midterm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Implement a Blackjack by using JavaScript</a:t>
            </a:r>
          </a:p>
          <a:p>
            <a:pPr lvl="1"/>
            <a:r>
              <a:rPr lang="en-US" altLang="zh-TW" dirty="0">
                <a:hlinkClick r:id="rId3"/>
              </a:rPr>
              <a:t>https://en.wikipedia.org/wiki/Blackjack</a:t>
            </a:r>
            <a:endParaRPr lang="en-US" altLang="zh-TW" dirty="0"/>
          </a:p>
          <a:p>
            <a:pPr lvl="1"/>
            <a:r>
              <a:rPr lang="en-US" altLang="zh-TW" dirty="0"/>
              <a:t>Get 21 points on the player's first two cards without a dealer blackjack</a:t>
            </a:r>
          </a:p>
          <a:p>
            <a:pPr lvl="1"/>
            <a:r>
              <a:rPr lang="en-US" altLang="zh-TW" dirty="0"/>
              <a:t>Reach a final score higher than the dealer without exceeding 21</a:t>
            </a:r>
          </a:p>
          <a:p>
            <a:pPr lvl="1"/>
            <a:r>
              <a:rPr lang="en-US" altLang="zh-TW" dirty="0"/>
              <a:t>Let the dealer draw additional cards until their hand exceeds 21</a:t>
            </a:r>
          </a:p>
          <a:p>
            <a:r>
              <a:rPr lang="en-US" altLang="zh-TW" dirty="0"/>
              <a:t>You need to display the cards by using card images</a:t>
            </a:r>
          </a:p>
          <a:p>
            <a:r>
              <a:rPr lang="en-US" altLang="zh-TW" dirty="0"/>
              <a:t>Player decisions</a:t>
            </a:r>
          </a:p>
          <a:p>
            <a:pPr lvl="1"/>
            <a:r>
              <a:rPr lang="en-US" altLang="zh-TW" dirty="0"/>
              <a:t>Assign chips</a:t>
            </a:r>
          </a:p>
          <a:p>
            <a:pPr lvl="1"/>
            <a:r>
              <a:rPr lang="en-US" altLang="zh-TW" dirty="0"/>
              <a:t>Hit - Take another card from the dealer</a:t>
            </a:r>
          </a:p>
          <a:p>
            <a:pPr lvl="1"/>
            <a:r>
              <a:rPr lang="en-US" altLang="zh-TW" dirty="0"/>
              <a:t>Stand - Take no more cards</a:t>
            </a:r>
          </a:p>
          <a:p>
            <a:pPr lvl="1"/>
            <a:r>
              <a:rPr lang="en-US" altLang="zh-TW" dirty="0"/>
              <a:t>Signal - Place additional chips beside the original bet</a:t>
            </a:r>
          </a:p>
          <a:p>
            <a:endParaRPr lang="en-US" altLang="zh-TW" dirty="0"/>
          </a:p>
          <a:p>
            <a:pPr marL="319088" lvl="1" indent="0">
              <a:buNone/>
            </a:pP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233683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165A2A-A299-4CCF-A4EA-0CDEE9421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4 Midterm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9986C0-C986-40DE-846F-7ABC7836759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After a game, the player can play a new game until she/he loses all chips</a:t>
            </a:r>
          </a:p>
          <a:p>
            <a:r>
              <a:rPr lang="en-US" altLang="zh-TW" sz="2800" dirty="0"/>
              <a:t>Store the game information to the </a:t>
            </a:r>
            <a:r>
              <a:rPr lang="en-US" altLang="zh-TW" sz="2800" b="1" dirty="0" err="1"/>
              <a:t>localStorage</a:t>
            </a:r>
            <a:r>
              <a:rPr lang="en-US" altLang="zh-TW" sz="2800" dirty="0"/>
              <a:t> and </a:t>
            </a:r>
            <a:r>
              <a:rPr lang="en-US" altLang="zh-TW" sz="2800" b="1" dirty="0" err="1"/>
              <a:t>sessionStorage</a:t>
            </a:r>
            <a:r>
              <a:rPr lang="en-US" altLang="zh-TW" sz="2800" b="1" dirty="0"/>
              <a:t> </a:t>
            </a:r>
            <a:r>
              <a:rPr lang="en-US" altLang="zh-TW" sz="2800" dirty="0"/>
              <a:t>with</a:t>
            </a:r>
            <a:r>
              <a:rPr lang="en-US" altLang="zh-TW" sz="2800" b="1" dirty="0"/>
              <a:t> JSON </a:t>
            </a:r>
            <a:r>
              <a:rPr lang="en-US" altLang="zh-TW" sz="2800" dirty="0"/>
              <a:t>formats</a:t>
            </a:r>
          </a:p>
          <a:p>
            <a:r>
              <a:rPr lang="en-US" altLang="zh-TW" sz="2800" dirty="0"/>
              <a:t>The program needs to read game information from </a:t>
            </a:r>
            <a:r>
              <a:rPr lang="en-US" altLang="zh-TW" sz="3200" dirty="0"/>
              <a:t>the </a:t>
            </a:r>
            <a:r>
              <a:rPr lang="en-US" altLang="zh-TW" sz="2800" b="1" dirty="0" err="1"/>
              <a:t>localStorage</a:t>
            </a:r>
            <a:r>
              <a:rPr lang="en-US" altLang="zh-TW" sz="2800" dirty="0"/>
              <a:t> and </a:t>
            </a:r>
            <a:r>
              <a:rPr lang="en-US" altLang="zh-TW" sz="2800" b="1" dirty="0" err="1"/>
              <a:t>sessionStorage</a:t>
            </a:r>
            <a:r>
              <a:rPr lang="en-US" altLang="zh-TW" sz="2800" b="1" dirty="0"/>
              <a:t> </a:t>
            </a:r>
          </a:p>
          <a:p>
            <a:r>
              <a:rPr lang="en-US" altLang="zh-TW" sz="2800" dirty="0"/>
              <a:t>Use </a:t>
            </a:r>
            <a:r>
              <a:rPr lang="en-US" altLang="zh-TW" sz="2800" dirty="0" err="1"/>
              <a:t>Javascript</a:t>
            </a:r>
            <a:r>
              <a:rPr lang="en-US" altLang="zh-TW" sz="2800" dirty="0"/>
              <a:t> to dynamically generate the website </a:t>
            </a:r>
          </a:p>
          <a:p>
            <a:pPr lvl="1"/>
            <a:r>
              <a:rPr lang="en-US" altLang="zh-TW" dirty="0"/>
              <a:t>Otherwise, your grade will be deducted by </a:t>
            </a:r>
            <a:r>
              <a:rPr lang="en-US" altLang="zh-TW" dirty="0">
                <a:solidFill>
                  <a:srgbClr val="FF0000"/>
                </a:solidFill>
              </a:rPr>
              <a:t>30</a:t>
            </a:r>
            <a:r>
              <a:rPr lang="en-US" altLang="zh-TW" dirty="0"/>
              <a:t> points</a:t>
            </a:r>
          </a:p>
          <a:p>
            <a:endParaRPr lang="en-US" altLang="zh-TW" sz="2800" b="1" dirty="0"/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8508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Homework 4 Midterm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Use </a:t>
            </a:r>
            <a:r>
              <a:rPr lang="en-US" altLang="zh-TW" dirty="0">
                <a:solidFill>
                  <a:srgbClr val="FF0000"/>
                </a:solidFill>
              </a:rPr>
              <a:t>CSS</a:t>
            </a:r>
            <a:r>
              <a:rPr lang="en-US" altLang="zh-TW" dirty="0"/>
              <a:t> and </a:t>
            </a:r>
            <a:r>
              <a:rPr lang="en-US" altLang="zh-TW" dirty="0">
                <a:solidFill>
                  <a:srgbClr val="FF0000"/>
                </a:solidFill>
              </a:rPr>
              <a:t>HTML</a:t>
            </a:r>
            <a:r>
              <a:rPr lang="en-US" altLang="zh-TW" dirty="0"/>
              <a:t> to represent your output results</a:t>
            </a:r>
          </a:p>
          <a:p>
            <a:pPr lvl="1"/>
            <a:r>
              <a:rPr lang="en-US" altLang="zh-TW" dirty="0"/>
              <a:t>You also need to record all of the steps of all games and list the results by using a table</a:t>
            </a:r>
          </a:p>
          <a:p>
            <a:pPr lvl="2"/>
            <a:r>
              <a:rPr lang="en-US" altLang="zh-TW" dirty="0"/>
              <a:t>Without the table, the grade deducts </a:t>
            </a:r>
            <a:r>
              <a:rPr lang="en-US" altLang="zh-TW" dirty="0">
                <a:solidFill>
                  <a:srgbClr val="FF0000"/>
                </a:solidFill>
              </a:rPr>
              <a:t>30</a:t>
            </a:r>
            <a:r>
              <a:rPr lang="en-US" altLang="zh-TW" dirty="0"/>
              <a:t> points</a:t>
            </a:r>
          </a:p>
          <a:p>
            <a:pPr>
              <a:defRPr/>
            </a:pPr>
            <a:r>
              <a:rPr lang="en-US" altLang="zh-TW" dirty="0"/>
              <a:t>Do not use jQuery</a:t>
            </a:r>
          </a:p>
          <a:p>
            <a:pPr lvl="1">
              <a:defRPr/>
            </a:pPr>
            <a:r>
              <a:rPr lang="en-US" altLang="zh-TW" dirty="0"/>
              <a:t>Otherwise your grade will be </a:t>
            </a:r>
            <a:r>
              <a:rPr lang="en-US" altLang="zh-TW" dirty="0">
                <a:solidFill>
                  <a:srgbClr val="FF0000"/>
                </a:solidFill>
              </a:rPr>
              <a:t>0</a:t>
            </a:r>
            <a:endParaRPr lang="en-US" altLang="zh-TW" dirty="0"/>
          </a:p>
          <a:p>
            <a:pPr>
              <a:defRPr/>
            </a:pPr>
            <a:r>
              <a:rPr lang="en-US" altLang="zh-TW" dirty="0"/>
              <a:t>Source code comments are welcome</a:t>
            </a:r>
          </a:p>
          <a:p>
            <a:pPr>
              <a:defRPr/>
            </a:pPr>
            <a:r>
              <a:rPr lang="en-US" altLang="zh-TW" dirty="0"/>
              <a:t>Array is fine now</a:t>
            </a:r>
          </a:p>
          <a:p>
            <a:pPr>
              <a:defRPr/>
            </a:pPr>
            <a:r>
              <a:rPr lang="en-US" altLang="zh-TW" dirty="0"/>
              <a:t>The content and layout will affect your grade</a:t>
            </a:r>
          </a:p>
          <a:p>
            <a:pPr lvl="1">
              <a:defRPr/>
            </a:pPr>
            <a:r>
              <a:rPr lang="en-US" altLang="zh-TW" dirty="0"/>
              <a:t>Will be reviewed under </a:t>
            </a:r>
            <a:r>
              <a:rPr lang="en-US" altLang="zh-TW" dirty="0">
                <a:solidFill>
                  <a:srgbClr val="FF0000"/>
                </a:solidFill>
              </a:rPr>
              <a:t>Google Chrome</a:t>
            </a:r>
          </a:p>
          <a:p>
            <a:pPr>
              <a:defRPr/>
            </a:pPr>
            <a:r>
              <a:rPr lang="en-US" altLang="zh-TW" dirty="0">
                <a:solidFill>
                  <a:srgbClr val="FF0000"/>
                </a:solidFill>
              </a:rPr>
              <a:t>Delay = Copy = 0</a:t>
            </a:r>
            <a:endParaRPr lang="zh-TW" altLang="en-US" dirty="0">
              <a:solidFill>
                <a:srgbClr val="FF0000"/>
              </a:solidFill>
            </a:endParaRPr>
          </a:p>
          <a:p>
            <a:pPr>
              <a:defRPr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174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內容版面配置區 2"/>
          <p:cNvSpPr>
            <a:spLocks noGrp="1"/>
          </p:cNvSpPr>
          <p:nvPr>
            <p:ph sz="quarter" idx="1"/>
          </p:nvPr>
        </p:nvSpPr>
        <p:spPr>
          <a:xfrm>
            <a:off x="1040920" y="1417638"/>
            <a:ext cx="10363200" cy="4572000"/>
          </a:xfrm>
        </p:spPr>
        <p:txBody>
          <a:bodyPr/>
          <a:lstStyle/>
          <a:p>
            <a:r>
              <a:rPr lang="en-US" altLang="zh-TW" sz="2400" dirty="0"/>
              <a:t>Deadline: 11/17 23:30</a:t>
            </a:r>
          </a:p>
          <a:p>
            <a:pPr lvl="1"/>
            <a:r>
              <a:rPr lang="en-US" altLang="zh-TW" sz="2000" dirty="0"/>
              <a:t>Upload to E3</a:t>
            </a:r>
          </a:p>
          <a:p>
            <a:pPr lvl="2"/>
            <a:r>
              <a:rPr lang="en-US" altLang="zh-TW" sz="1800" dirty="0">
                <a:solidFill>
                  <a:srgbClr val="FF0000"/>
                </a:solidFill>
              </a:rPr>
              <a:t>Zip the whole web site!</a:t>
            </a:r>
          </a:p>
          <a:p>
            <a:pPr lvl="2"/>
            <a:r>
              <a:rPr lang="en-US" altLang="zh-TW" sz="1800" dirty="0"/>
              <a:t>Otherwise your grade will be deducted by </a:t>
            </a:r>
            <a:r>
              <a:rPr lang="en-US" altLang="zh-TW" sz="1800" dirty="0">
                <a:solidFill>
                  <a:srgbClr val="FF0000"/>
                </a:solidFill>
              </a:rPr>
              <a:t>20</a:t>
            </a:r>
          </a:p>
          <a:p>
            <a:r>
              <a:rPr lang="en-US" altLang="zh-TW" sz="2400" dirty="0"/>
              <a:t>Title</a:t>
            </a:r>
            <a:r>
              <a:rPr lang="zh-TW" altLang="en-US" sz="2400" dirty="0"/>
              <a:t> </a:t>
            </a:r>
            <a:r>
              <a:rPr lang="en-US" altLang="zh-TW" sz="2400" dirty="0"/>
              <a:t>(&lt;title&gt; tag) &amp; file name</a:t>
            </a:r>
          </a:p>
          <a:p>
            <a:pPr lvl="2"/>
            <a:r>
              <a:rPr lang="en-US" altLang="zh-TW" sz="1800" dirty="0"/>
              <a:t>HW4_</a:t>
            </a:r>
            <a:r>
              <a:rPr lang="zh-TW" altLang="en-US" sz="1800" dirty="0"/>
              <a:t>學號</a:t>
            </a:r>
            <a:r>
              <a:rPr lang="en-US" altLang="zh-TW" sz="1800" dirty="0"/>
              <a:t>_</a:t>
            </a:r>
            <a:r>
              <a:rPr lang="zh-TW" altLang="en-US" sz="1800" dirty="0"/>
              <a:t>學生名</a:t>
            </a:r>
            <a:endParaRPr lang="en-US" altLang="zh-TW" sz="1800" dirty="0"/>
          </a:p>
          <a:p>
            <a:pPr lvl="2"/>
            <a:r>
              <a:rPr lang="en-US" altLang="zh-TW" sz="1800" dirty="0"/>
              <a:t>HW4_</a:t>
            </a:r>
            <a:r>
              <a:rPr lang="zh-TW" altLang="en-US" sz="1800" dirty="0"/>
              <a:t>學號</a:t>
            </a:r>
            <a:r>
              <a:rPr lang="en-US" altLang="zh-TW" sz="1800" dirty="0"/>
              <a:t>_</a:t>
            </a:r>
            <a:r>
              <a:rPr lang="zh-TW" altLang="en-US" sz="1800" dirty="0"/>
              <a:t>學生名</a:t>
            </a:r>
            <a:r>
              <a:rPr lang="en-US" altLang="zh-TW" sz="1800" dirty="0"/>
              <a:t>.zip</a:t>
            </a:r>
          </a:p>
          <a:p>
            <a:pPr lvl="1"/>
            <a:r>
              <a:rPr lang="en-US" altLang="zh-TW" sz="2000" dirty="0"/>
              <a:t>Otherwise your grade will be deducted by </a:t>
            </a:r>
            <a:r>
              <a:rPr lang="en-US" altLang="zh-TW" sz="2000" dirty="0">
                <a:solidFill>
                  <a:srgbClr val="FF0000"/>
                </a:solidFill>
              </a:rPr>
              <a:t>20</a:t>
            </a:r>
          </a:p>
          <a:p>
            <a:r>
              <a:rPr lang="en-US" altLang="zh-TW" sz="2400" dirty="0"/>
              <a:t>In the source code, you need to add the identifications below</a:t>
            </a:r>
          </a:p>
          <a:p>
            <a:pPr lvl="1"/>
            <a:r>
              <a:rPr lang="en-US" altLang="zh-TW" sz="2000" dirty="0"/>
              <a:t>Otherwise your grade will be deducted by </a:t>
            </a:r>
            <a:r>
              <a:rPr lang="en-US" altLang="zh-TW" sz="2000" dirty="0">
                <a:solidFill>
                  <a:srgbClr val="FF0000"/>
                </a:solidFill>
              </a:rPr>
              <a:t>20</a:t>
            </a:r>
          </a:p>
          <a:p>
            <a:pPr lvl="1">
              <a:buNone/>
            </a:pPr>
            <a:r>
              <a:rPr lang="en-US" altLang="zh-TW" sz="2200" dirty="0"/>
              <a:t>&lt;!--</a:t>
            </a:r>
          </a:p>
          <a:p>
            <a:pPr lvl="1" algn="just">
              <a:buNone/>
            </a:pPr>
            <a:r>
              <a:rPr lang="en-US" altLang="zh-TW" sz="2200" dirty="0"/>
              <a:t>4001234567 </a:t>
            </a:r>
            <a:r>
              <a:rPr lang="zh-TW" altLang="en-US" sz="2200" dirty="0"/>
              <a:t>王小明 第</a:t>
            </a:r>
            <a:r>
              <a:rPr lang="en-US" altLang="zh-TW" sz="2200" dirty="0"/>
              <a:t>4</a:t>
            </a:r>
            <a:r>
              <a:rPr lang="zh-TW" altLang="en-US" sz="2200" dirty="0"/>
              <a:t>次作業 </a:t>
            </a:r>
            <a:r>
              <a:rPr lang="en-US" altLang="zh-TW" sz="2200" dirty="0"/>
              <a:t>11/17</a:t>
            </a:r>
          </a:p>
          <a:p>
            <a:pPr lvl="1" algn="just">
              <a:buNone/>
            </a:pPr>
            <a:r>
              <a:rPr lang="en-US" altLang="zh-TW" sz="2200" dirty="0"/>
              <a:t>4001234567 Ming Wang</a:t>
            </a:r>
            <a:r>
              <a:rPr lang="zh-TW" altLang="en-US" sz="2200" dirty="0"/>
              <a:t> </a:t>
            </a:r>
            <a:r>
              <a:rPr lang="en-US" altLang="zh-TW" sz="2200" dirty="0"/>
              <a:t>The Fourth </a:t>
            </a:r>
            <a:r>
              <a:rPr lang="en-US" altLang="zh-TW" sz="2200"/>
              <a:t>Homework 11/17</a:t>
            </a:r>
            <a:endParaRPr lang="en-US" altLang="zh-TW" sz="2200" dirty="0"/>
          </a:p>
          <a:p>
            <a:pPr lvl="1" algn="just">
              <a:buNone/>
            </a:pPr>
            <a:r>
              <a:rPr lang="en-US" altLang="zh-TW" sz="2200" dirty="0"/>
              <a:t>--&gt;</a:t>
            </a:r>
            <a:endParaRPr lang="zh-TW" altLang="en-US" sz="2200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5D133735-466F-403B-921B-AD74E83F5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74638"/>
            <a:ext cx="10363200" cy="1143000"/>
          </a:xfrm>
        </p:spPr>
        <p:txBody>
          <a:bodyPr/>
          <a:lstStyle/>
          <a:p>
            <a:r>
              <a:rPr lang="en-US" altLang="zh-TW" dirty="0"/>
              <a:t>Homework 4 Midterm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437779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endering">
  <a:themeElements>
    <a:clrScheme name="公正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公正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公正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ndering" id="{5CD00AD1-6BA4-41CA-9F19-A65B7D36E5CC}" vid="{E0C7B7D5-1702-4959-8F86-12A304187F22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rendering</Template>
  <TotalTime>110</TotalTime>
  <Words>327</Words>
  <Application>Microsoft Office PowerPoint</Application>
  <PresentationFormat>寬螢幕</PresentationFormat>
  <Paragraphs>45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Calibri</vt:lpstr>
      <vt:lpstr>Franklin Gothic Book</vt:lpstr>
      <vt:lpstr>Perpetua</vt:lpstr>
      <vt:lpstr>Wingdings 2</vt:lpstr>
      <vt:lpstr>rendering</vt:lpstr>
      <vt:lpstr>Homework 4 Midterm</vt:lpstr>
      <vt:lpstr>Homework 4 Midterm</vt:lpstr>
      <vt:lpstr>Homework 4 Midterm</vt:lpstr>
      <vt:lpstr>Homework 4 Midterm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Homework 1</dc:title>
  <dc:creator>n</dc:creator>
  <cp:lastModifiedBy>育霆 盧</cp:lastModifiedBy>
  <cp:revision>88</cp:revision>
  <dcterms:created xsi:type="dcterms:W3CDTF">2016-03-08T06:05:10Z</dcterms:created>
  <dcterms:modified xsi:type="dcterms:W3CDTF">2024-11-01T06:00:45Z</dcterms:modified>
</cp:coreProperties>
</file>