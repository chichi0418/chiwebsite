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11" autoAdjust="0"/>
    <p:restoredTop sz="94660"/>
  </p:normalViewPr>
  <p:slideViewPr>
    <p:cSldViewPr snapToGrid="0">
      <p:cViewPr>
        <p:scale>
          <a:sx n="66" d="100"/>
          <a:sy n="66" d="100"/>
        </p:scale>
        <p:origin x="-25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D353E-7507-4138-AA33-F5B7D349808B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AF393-DE0F-4C77-946F-44AEC44F8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6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0AF393-DE0F-4C77-946F-44AEC44F880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271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AF393-DE0F-4C77-946F-44AEC44F880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810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5" name="圓角矩形 4"/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12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3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90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5" name="圓角矩形 4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93134" y="2376489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134" y="2341564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018" y="2468564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40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54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80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1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84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6" name="圓角矩形 5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8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53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91018" y="4683126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018" y="4649789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18" y="4773614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8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59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5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61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8" name="圓角矩形 7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1028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1A10245-5177-4DF8-A448-9DB389FFADE6}" type="datetimeFigureOut">
              <a:rPr lang="zh-TW" altLang="en-US" smtClean="0"/>
              <a:t>2024/10/3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65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1" fontAlgn="base" hangingPunct="1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1" fontAlgn="base" hangingPunct="1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1" fontAlgn="base" hangingPunct="1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rcissistic_numb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Fibonacci_numb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2494" y="357765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Homework 2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1597429"/>
            <a:ext cx="10363200" cy="4572000"/>
          </a:xfrm>
        </p:spPr>
        <p:txBody>
          <a:bodyPr/>
          <a:lstStyle/>
          <a:p>
            <a:r>
              <a:rPr lang="en-US" altLang="zh-TW" sz="1800" dirty="0">
                <a:latin typeface="+mj-ea"/>
                <a:ea typeface="+mj-ea"/>
              </a:rPr>
              <a:t>Implement a JavaScript program that reads 8 integers from the keyboard and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print</a:t>
            </a:r>
            <a:r>
              <a:rPr lang="en-US" altLang="zh-TW" sz="1800" dirty="0">
                <a:latin typeface="+mj-ea"/>
                <a:ea typeface="+mj-ea"/>
              </a:rPr>
              <a:t> them on the webpage</a:t>
            </a:r>
            <a:r>
              <a:rPr lang="zh-TW" altLang="en-US" sz="1800" dirty="0">
                <a:latin typeface="+mj-ea"/>
                <a:ea typeface="+mj-ea"/>
              </a:rPr>
              <a:t> </a:t>
            </a:r>
            <a:r>
              <a:rPr lang="en-US" altLang="zh-TW" sz="1800" dirty="0">
                <a:latin typeface="+mj-ea"/>
                <a:ea typeface="+mj-ea"/>
              </a:rPr>
              <a:t>by using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images of the digits</a:t>
            </a:r>
            <a:endParaRPr lang="en-US" altLang="zh-TW" sz="1800" dirty="0">
              <a:latin typeface="+mj-ea"/>
              <a:ea typeface="+mj-ea"/>
            </a:endParaRP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Show all the numbers by images, 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The range of the numbers is 1~999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You need to handle the issue if the input integer is out of range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Without the code,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  <a:r>
              <a:rPr lang="en-US" altLang="zh-TW" sz="1800" dirty="0">
                <a:latin typeface="+mj-ea"/>
                <a:ea typeface="+mj-ea"/>
              </a:rPr>
              <a:t> points will be deducted</a:t>
            </a:r>
          </a:p>
          <a:p>
            <a:r>
              <a:rPr lang="en-US" altLang="zh-TW" sz="1800" dirty="0">
                <a:latin typeface="+mj-ea"/>
                <a:ea typeface="+mj-ea"/>
              </a:rPr>
              <a:t>Parse these 8 integers to find and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print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Maximum 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Minimum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Median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Prime numbers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Armstrong numbers, if you copy the code from Wiki,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50</a:t>
            </a:r>
            <a:r>
              <a:rPr lang="en-US" altLang="zh-TW" sz="1800" dirty="0">
                <a:latin typeface="+mj-ea"/>
                <a:ea typeface="+mj-ea"/>
              </a:rPr>
              <a:t> points will be deducted </a:t>
            </a:r>
            <a:r>
              <a:rPr lang="en-US" altLang="zh-TW" sz="1800" dirty="0">
                <a:latin typeface="+mj-ea"/>
                <a:ea typeface="+mj-ea"/>
                <a:hlinkClick r:id="rId3"/>
              </a:rPr>
              <a:t>https://en.wikipedia.org/wiki/Narcissistic_number</a:t>
            </a:r>
            <a:endParaRPr lang="en-US" altLang="zh-TW" sz="1800" dirty="0">
              <a:latin typeface="+mj-ea"/>
              <a:ea typeface="+mj-ea"/>
            </a:endParaRPr>
          </a:p>
          <a:p>
            <a:pPr marL="319088" lvl="1" indent="0">
              <a:buNone/>
            </a:pPr>
            <a:endParaRPr lang="en-US" altLang="zh-TW" sz="1800" dirty="0">
              <a:latin typeface="+mj-ea"/>
              <a:ea typeface="+mj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2D7C25-BF80-4D90-AA3B-95A4AF26A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325" y="1954728"/>
            <a:ext cx="744282" cy="7718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F25815B-D725-4861-BCD7-5F89120FD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387" y="1977982"/>
            <a:ext cx="556953" cy="76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8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1680557"/>
            <a:ext cx="10363200" cy="5002876"/>
          </a:xfrm>
        </p:spPr>
        <p:txBody>
          <a:bodyPr/>
          <a:lstStyle/>
          <a:p>
            <a:r>
              <a:rPr lang="en-US" altLang="zh-TW" sz="1800" dirty="0">
                <a:latin typeface="+mj-ea"/>
                <a:ea typeface="+mj-ea"/>
              </a:rPr>
              <a:t>If the integers belong to the integers of the Fibonacci sequence, you need to print them out.</a:t>
            </a:r>
            <a:endParaRPr lang="en-US" altLang="zh-TW" sz="1800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Fibonacci sequence </a:t>
            </a:r>
            <a:r>
              <a:rPr lang="en-US" altLang="zh-TW" sz="1800" dirty="0">
                <a:latin typeface="+mj-ea"/>
                <a:ea typeface="+mj-ea"/>
                <a:hlinkClick r:id="rId2"/>
              </a:rPr>
              <a:t>https://en.wikipedia.org/wiki/Fibonacci_number</a:t>
            </a:r>
            <a:endParaRPr lang="en-US" altLang="zh-TW" sz="1800" dirty="0">
              <a:latin typeface="+mj-ea"/>
              <a:ea typeface="+mj-ea"/>
            </a:endParaRPr>
          </a:p>
          <a:p>
            <a:r>
              <a:rPr lang="en-US" altLang="zh-TW" sz="1800" dirty="0">
                <a:latin typeface="+mj-ea"/>
                <a:ea typeface="+mj-ea"/>
              </a:rPr>
              <a:t>Use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CSS</a:t>
            </a:r>
            <a:r>
              <a:rPr lang="en-US" altLang="zh-TW" sz="1800" dirty="0">
                <a:latin typeface="+mj-ea"/>
                <a:ea typeface="+mj-ea"/>
              </a:rPr>
              <a:t> and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HTML</a:t>
            </a:r>
            <a:r>
              <a:rPr lang="en-US" altLang="zh-TW" sz="1800" dirty="0">
                <a:latin typeface="+mj-ea"/>
                <a:ea typeface="+mj-ea"/>
              </a:rPr>
              <a:t> to present your output results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At least two tables are necessary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Without the table,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  <a:r>
              <a:rPr lang="en-US" altLang="zh-TW" sz="1800" dirty="0">
                <a:latin typeface="+mj-ea"/>
                <a:ea typeface="+mj-ea"/>
              </a:rPr>
              <a:t> points will be deducted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All results need to be rendered by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images of the digits</a:t>
            </a:r>
            <a:endParaRPr lang="en-US" altLang="zh-TW" sz="1800" dirty="0">
              <a:latin typeface="+mj-ea"/>
              <a:ea typeface="+mj-ea"/>
            </a:endParaRP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Source code comments are welcome</a:t>
            </a: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As I have mentioned in class, no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array</a:t>
            </a:r>
            <a:r>
              <a:rPr lang="en-US" altLang="zh-TW" sz="1800" dirty="0">
                <a:latin typeface="+mj-ea"/>
                <a:ea typeface="+mj-ea"/>
              </a:rPr>
              <a:t> is allowable</a:t>
            </a:r>
          </a:p>
          <a:p>
            <a:pPr lvl="1">
              <a:defRPr/>
            </a:pPr>
            <a:r>
              <a:rPr lang="en-US" altLang="zh-TW" sz="1800" dirty="0">
                <a:latin typeface="+mj-ea"/>
                <a:ea typeface="+mj-ea"/>
              </a:rPr>
              <a:t>If you use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array</a:t>
            </a:r>
            <a:r>
              <a:rPr lang="en-US" altLang="zh-TW" sz="1800" dirty="0">
                <a:latin typeface="+mj-ea"/>
                <a:ea typeface="+mj-ea"/>
              </a:rPr>
              <a:t>, the grade will be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0</a:t>
            </a:r>
            <a:r>
              <a:rPr lang="en-US" altLang="zh-TW" sz="1800" dirty="0">
                <a:latin typeface="+mj-ea"/>
                <a:ea typeface="+mj-ea"/>
              </a:rPr>
              <a:t> point</a:t>
            </a: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The content and layout will affect your grade </a:t>
            </a:r>
          </a:p>
          <a:p>
            <a:pPr>
              <a:defRPr/>
            </a:pP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Delay = Copy = 0</a:t>
            </a: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We will use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Microsoft Edge</a:t>
            </a:r>
            <a:r>
              <a:rPr lang="zh-TW" altLang="en-US" sz="18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zh-TW" sz="1800" dirty="0">
                <a:latin typeface="+mj-ea"/>
                <a:ea typeface="+mj-ea"/>
              </a:rPr>
              <a:t>to check your homework</a:t>
            </a:r>
          </a:p>
          <a:p>
            <a:pPr>
              <a:defRPr/>
            </a:pPr>
            <a:r>
              <a:rPr lang="en-US" altLang="zh-TW" sz="1800" dirty="0">
                <a:latin typeface="+mj-ea"/>
                <a:ea typeface="+mj-ea"/>
              </a:rPr>
              <a:t>Name it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index.html</a:t>
            </a:r>
            <a:r>
              <a:rPr lang="en-US" altLang="zh-TW" sz="1800" dirty="0">
                <a:latin typeface="+mj-ea"/>
                <a:ea typeface="+mj-ea"/>
              </a:rPr>
              <a:t>, we will access the website from here</a:t>
            </a:r>
          </a:p>
          <a:p>
            <a:pPr lvl="1">
              <a:defRPr/>
            </a:pPr>
            <a:r>
              <a:rPr lang="en-US" altLang="zh-TW" sz="1800" dirty="0">
                <a:latin typeface="+mj-ea"/>
                <a:ea typeface="+mj-ea"/>
              </a:rPr>
              <a:t> You can create multiple </a:t>
            </a:r>
            <a:r>
              <a:rPr lang="en-US" altLang="zh-TW" sz="1800">
                <a:latin typeface="+mj-ea"/>
                <a:ea typeface="+mj-ea"/>
              </a:rPr>
              <a:t>html files (name </a:t>
            </a:r>
            <a:r>
              <a:rPr lang="en-US" altLang="zh-TW" sz="1800" dirty="0">
                <a:latin typeface="+mj-ea"/>
                <a:ea typeface="+mj-ea"/>
              </a:rPr>
              <a:t>other files as </a:t>
            </a:r>
            <a:r>
              <a:rPr lang="en-US" altLang="zh-TW" sz="1800">
                <a:latin typeface="+mj-ea"/>
                <a:ea typeface="+mj-ea"/>
              </a:rPr>
              <a:t>you want)</a:t>
            </a:r>
            <a:endParaRPr lang="zh-TW" altLang="en-US" sz="1800" dirty="0">
              <a:latin typeface="+mj-ea"/>
              <a:ea typeface="+mj-ea"/>
            </a:endParaRPr>
          </a:p>
          <a:p>
            <a:pPr>
              <a:defRPr/>
            </a:pPr>
            <a:endParaRPr lang="zh-TW" altLang="en-US" sz="1800" dirty="0">
              <a:latin typeface="+mj-ea"/>
              <a:ea typeface="+mj-ea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54676598-72B9-4E2A-97FF-E88C7F20F510}"/>
              </a:ext>
            </a:extLst>
          </p:cNvPr>
          <p:cNvSpPr txBox="1">
            <a:spLocks/>
          </p:cNvSpPr>
          <p:nvPr/>
        </p:nvSpPr>
        <p:spPr bwMode="auto">
          <a:xfrm>
            <a:off x="562494" y="35776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Homework 2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9174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內容版面配置區 2"/>
          <p:cNvSpPr>
            <a:spLocks noGrp="1"/>
          </p:cNvSpPr>
          <p:nvPr>
            <p:ph sz="quarter" idx="1"/>
          </p:nvPr>
        </p:nvSpPr>
        <p:spPr>
          <a:xfrm>
            <a:off x="914400" y="1500765"/>
            <a:ext cx="10363200" cy="4572000"/>
          </a:xfrm>
        </p:spPr>
        <p:txBody>
          <a:bodyPr/>
          <a:lstStyle/>
          <a:p>
            <a:r>
              <a:rPr lang="en-US" altLang="zh-TW" sz="1800" dirty="0">
                <a:latin typeface="+mj-ea"/>
                <a:ea typeface="+mj-ea"/>
              </a:rPr>
              <a:t>Deadline: 10/11 23:30</a:t>
            </a:r>
          </a:p>
          <a:p>
            <a:r>
              <a:rPr lang="en-US" altLang="zh-TW" sz="1800" dirty="0">
                <a:latin typeface="+mj-ea"/>
                <a:ea typeface="+mj-ea"/>
              </a:rPr>
              <a:t>Upload to E3</a:t>
            </a:r>
          </a:p>
          <a:p>
            <a:pPr lvl="2"/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Zip the whole web site!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Otherwise your grade will be deducted by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</a:p>
          <a:p>
            <a:r>
              <a:rPr lang="en-US" altLang="zh-TW" sz="1800" dirty="0">
                <a:latin typeface="+mj-ea"/>
                <a:ea typeface="+mj-ea"/>
              </a:rPr>
              <a:t>Title of the index.html file (&lt;title&gt;) &amp; file name</a:t>
            </a:r>
          </a:p>
          <a:p>
            <a:pPr lvl="2"/>
            <a:r>
              <a:rPr lang="en-US" altLang="zh-TW" sz="1800" dirty="0">
                <a:latin typeface="+mj-ea"/>
                <a:ea typeface="+mj-ea"/>
              </a:rPr>
              <a:t>HW2_</a:t>
            </a:r>
            <a:r>
              <a:rPr lang="zh-TW" altLang="en-US" sz="1800" dirty="0">
                <a:latin typeface="+mj-ea"/>
                <a:ea typeface="+mj-ea"/>
              </a:rPr>
              <a:t>學號</a:t>
            </a:r>
            <a:r>
              <a:rPr lang="en-US" altLang="zh-TW" sz="1800" dirty="0">
                <a:latin typeface="+mj-ea"/>
                <a:ea typeface="+mj-ea"/>
              </a:rPr>
              <a:t>_</a:t>
            </a:r>
            <a:r>
              <a:rPr lang="zh-TW" altLang="en-US" sz="1800" dirty="0">
                <a:latin typeface="+mj-ea"/>
                <a:ea typeface="+mj-ea"/>
              </a:rPr>
              <a:t>學生名</a:t>
            </a:r>
            <a:endParaRPr lang="en-US" altLang="zh-TW" sz="1800" dirty="0">
              <a:latin typeface="+mj-ea"/>
              <a:ea typeface="+mj-ea"/>
            </a:endParaRPr>
          </a:p>
          <a:p>
            <a:pPr lvl="2" eaLnBrk="1" hangingPunct="1"/>
            <a:r>
              <a:rPr lang="en-US" altLang="zh-TW" sz="1800" dirty="0">
                <a:latin typeface="+mj-ea"/>
                <a:ea typeface="+mj-ea"/>
              </a:rPr>
              <a:t>HW2_</a:t>
            </a:r>
            <a:r>
              <a:rPr lang="zh-TW" altLang="en-US" sz="1800" dirty="0">
                <a:latin typeface="+mj-ea"/>
                <a:ea typeface="+mj-ea"/>
              </a:rPr>
              <a:t>學號</a:t>
            </a:r>
            <a:r>
              <a:rPr lang="en-US" altLang="zh-TW" sz="1800" dirty="0">
                <a:latin typeface="+mj-ea"/>
                <a:ea typeface="+mj-ea"/>
              </a:rPr>
              <a:t>_</a:t>
            </a:r>
            <a:r>
              <a:rPr lang="zh-TW" altLang="en-US" sz="1800" dirty="0">
                <a:latin typeface="+mj-ea"/>
                <a:ea typeface="+mj-ea"/>
              </a:rPr>
              <a:t>學生名</a:t>
            </a:r>
            <a:r>
              <a:rPr lang="en-US" altLang="zh-TW" sz="1800" dirty="0">
                <a:latin typeface="+mj-ea"/>
                <a:ea typeface="+mj-ea"/>
              </a:rPr>
              <a:t>.zip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Otherwise your grade will be deducted by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30</a:t>
            </a:r>
          </a:p>
          <a:p>
            <a:r>
              <a:rPr lang="en-US" altLang="zh-TW" sz="1800" dirty="0">
                <a:latin typeface="+mj-ea"/>
                <a:ea typeface="+mj-ea"/>
              </a:rPr>
              <a:t>In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all </a:t>
            </a:r>
            <a:r>
              <a:rPr lang="en-US" altLang="zh-TW" sz="1800" dirty="0">
                <a:latin typeface="+mj-ea"/>
                <a:ea typeface="+mj-ea"/>
              </a:rPr>
              <a:t>the source code files, you need to add the identifications on the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top</a:t>
            </a:r>
            <a:r>
              <a:rPr lang="en-US" altLang="zh-TW" sz="1800" dirty="0">
                <a:latin typeface="+mj-ea"/>
                <a:ea typeface="+mj-ea"/>
              </a:rPr>
              <a:t> of your files</a:t>
            </a:r>
          </a:p>
          <a:p>
            <a:pPr lvl="1"/>
            <a:r>
              <a:rPr lang="en-US" altLang="zh-TW" sz="1800" dirty="0">
                <a:latin typeface="+mj-ea"/>
                <a:ea typeface="+mj-ea"/>
              </a:rPr>
              <a:t>Otherwise your grade will be deducted by </a:t>
            </a:r>
            <a:r>
              <a:rPr lang="en-US" altLang="zh-TW" sz="1800" dirty="0">
                <a:solidFill>
                  <a:srgbClr val="FF0000"/>
                </a:solidFill>
                <a:latin typeface="+mj-ea"/>
                <a:ea typeface="+mj-ea"/>
              </a:rPr>
              <a:t>20</a:t>
            </a:r>
          </a:p>
          <a:p>
            <a:pPr lvl="1">
              <a:buNone/>
            </a:pPr>
            <a:r>
              <a:rPr lang="en-US" altLang="zh-TW" sz="1800" dirty="0">
                <a:latin typeface="+mj-ea"/>
                <a:ea typeface="+mj-ea"/>
              </a:rPr>
              <a:t>&lt;!--4001234567 </a:t>
            </a:r>
            <a:r>
              <a:rPr lang="zh-TW" altLang="en-US" sz="1800" dirty="0">
                <a:latin typeface="+mj-ea"/>
                <a:ea typeface="+mj-ea"/>
              </a:rPr>
              <a:t>王小明 第</a:t>
            </a:r>
            <a:r>
              <a:rPr lang="en-US" altLang="zh-TW" sz="1800" dirty="0">
                <a:latin typeface="+mj-ea"/>
                <a:ea typeface="+mj-ea"/>
              </a:rPr>
              <a:t>II</a:t>
            </a:r>
            <a:r>
              <a:rPr lang="zh-TW" altLang="en-US" sz="1800" dirty="0">
                <a:latin typeface="+mj-ea"/>
                <a:ea typeface="+mj-ea"/>
              </a:rPr>
              <a:t>次作業</a:t>
            </a:r>
            <a:r>
              <a:rPr lang="en-US" altLang="zh-TW" sz="1800" dirty="0">
                <a:latin typeface="+mj-ea"/>
                <a:ea typeface="+mj-ea"/>
              </a:rPr>
              <a:t>10/11</a:t>
            </a:r>
          </a:p>
          <a:p>
            <a:pPr algn="just">
              <a:buNone/>
            </a:pPr>
            <a:r>
              <a:rPr lang="en-US" altLang="zh-TW" sz="1800" dirty="0">
                <a:latin typeface="+mj-ea"/>
                <a:ea typeface="+mj-ea"/>
              </a:rPr>
              <a:t>	4001234567 Ming Wang</a:t>
            </a:r>
            <a:r>
              <a:rPr lang="zh-TW" altLang="en-US" sz="1800" dirty="0">
                <a:latin typeface="+mj-ea"/>
                <a:ea typeface="+mj-ea"/>
              </a:rPr>
              <a:t> </a:t>
            </a:r>
            <a:r>
              <a:rPr lang="en-US" altLang="zh-TW" sz="1800" dirty="0">
                <a:latin typeface="+mj-ea"/>
                <a:ea typeface="+mj-ea"/>
              </a:rPr>
              <a:t>The Second Homework 10/11--&gt;</a:t>
            </a:r>
            <a:endParaRPr lang="zh-TW" altLang="en-US" sz="1800" dirty="0">
              <a:latin typeface="+mj-ea"/>
              <a:ea typeface="+mj-ea"/>
            </a:endParaRPr>
          </a:p>
          <a:p>
            <a:endParaRPr lang="zh-TW" altLang="en-US" sz="2400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F488E0E7-1CBD-4A5E-B067-7D5903068D9C}"/>
              </a:ext>
            </a:extLst>
          </p:cNvPr>
          <p:cNvSpPr txBox="1">
            <a:spLocks/>
          </p:cNvSpPr>
          <p:nvPr/>
        </p:nvSpPr>
        <p:spPr bwMode="auto">
          <a:xfrm>
            <a:off x="562494" y="357765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Homework 2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43777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ndering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ndering" id="{5CD00AD1-6BA4-41CA-9F19-A65B7D36E5CC}" vid="{E0C7B7D5-1702-4959-8F86-12A304187F2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rendering</Template>
  <TotalTime>215</TotalTime>
  <Words>358</Words>
  <Application>Microsoft Office PowerPoint</Application>
  <PresentationFormat>寬螢幕</PresentationFormat>
  <Paragraphs>42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微軟正黑體</vt:lpstr>
      <vt:lpstr>Calibri</vt:lpstr>
      <vt:lpstr>Franklin Gothic Book</vt:lpstr>
      <vt:lpstr>Perpetua</vt:lpstr>
      <vt:lpstr>Wingdings 2</vt:lpstr>
      <vt:lpstr>rendering</vt:lpstr>
      <vt:lpstr>Homework 2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</dc:title>
  <dc:creator>n</dc:creator>
  <cp:lastModifiedBy>婕妮 鄧</cp:lastModifiedBy>
  <cp:revision>76</cp:revision>
  <dcterms:created xsi:type="dcterms:W3CDTF">2016-03-08T06:05:10Z</dcterms:created>
  <dcterms:modified xsi:type="dcterms:W3CDTF">2024-10-03T10:51:08Z</dcterms:modified>
</cp:coreProperties>
</file>